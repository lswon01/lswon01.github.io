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14630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TRANSITION LAB · VOL.2 강의자료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번아웃 이후, 다시 그리는 커리어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내가 번아웃이라는 걸 인정하기까지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5212080"/>
            <a:ext cx="3749040" cy="566928"/>
          </a:xfrm>
          <a:prstGeom prst="roundRect">
            <a:avLst>
              <a:gd name="adj" fmla="val 19355"/>
            </a:avLst>
          </a:prstGeom>
          <a:solidFill>
            <a:srgbClr val="05353B"/>
          </a:solidFill>
          <a:ln w="12700">
            <a:solidFill>
              <a:srgbClr val="2E5A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212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교강사용 미니 렉처 · 8~10분 분량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 ·  Career Transition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이 장에서 다룰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21003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562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번아웃을 정확히 정의하기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9514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ICD-11 정의와 3대 특징으로 번아웃을 오해 없이 설명할 수 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7" y="35176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32735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인접 개념과 구분하기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371246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피로·매너리즘·방향 상실과 번아웃을 구별할 수 있다.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493501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46908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인정을 회복의 출발점으로 삼기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783080" y="51297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자가진단으로 자신의 상태를 점검하고, "인정"이 왜 첫걸음인지 이해한다.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내가 번아웃이라는 걸 인정하기까지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오프닝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당신도 아는 이야기일지 모른다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160520"/>
          </a:xfrm>
          <a:prstGeom prst="roundRect">
            <a:avLst>
              <a:gd name="adj" fmla="val 3077"/>
            </a:avLst>
          </a:prstGeom>
          <a:solidFill>
            <a:srgbClr val="05353B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6217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영업팀 9년차, 서른다섯 한소영은 알람이 울리기 전부터 눈이 떠진다.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회의실에 앉아 있어도 팀장의 입 모양만 눈에 들어올 뿐, 무슨 말인지 머릿속에 들어오지 않는다.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퇴근길 지하철에서 이직 사이트를 켰다가 곧 끈다. "지금까지 쌓은 게 이만큼인데."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"그냥 요즘 좀 피곤한 거겠지." 그렇게 넘기면서 벌써 몇 달째다.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26680" y="1783080"/>
            <a:ext cx="3886200" cy="1234440"/>
          </a:xfrm>
          <a:prstGeom prst="roundRect">
            <a:avLst>
              <a:gd name="adj" fmla="val 7407"/>
            </a:avLst>
          </a:prstGeom>
          <a:solidFill>
            <a:srgbClr val="EA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영업팀 9년차 · 35세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3317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"오늘 하루를 또 어떻게 버티지"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26680" y="3246120"/>
            <a:ext cx="3886200" cy="2697480"/>
          </a:xfrm>
          <a:prstGeom prst="roundRect">
            <a:avLst>
              <a:gd name="adj" fmla="val 3390"/>
            </a:avLst>
          </a:prstGeom>
          <a:solidFill>
            <a:srgbClr val="C07A1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01000" y="34564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생각해 볼 질문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384048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지금 나는, 혹은 내 옆의 동료는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이 장면과 얼마나 가까운가?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내가 번아웃이라는 걸 인정하기까지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번아웃, 정확히 무엇인가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AF2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ICD-11 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"성공적으로 관리되지 못한 만성적 직장 스트레스에서 비롯된 증후군." 질병이 아니라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"직업 관련 현상"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 분류된다.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F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51660" y="3291840"/>
            <a:ext cx="914400" cy="91440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404" y="3529584"/>
            <a:ext cx="438912" cy="438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4343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고갈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8280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평소보다 적게 일해도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기운이 다 빠진 느낌이 든다.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306324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FD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46420" y="3291840"/>
            <a:ext cx="914400" cy="91440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164" y="352958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26280" y="4343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냉소·거리감 증가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8280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 있던 일이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"해야 하니 하는 일"로 바뀐다.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306324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FD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441180" y="3291840"/>
            <a:ext cx="914400" cy="91440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924" y="352958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4343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효능감 감소</a:t>
            </a:r>
            <a:endParaRPr lang="en-US" sz="165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48280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시간을 더 써도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성과·만족도가 떨어진다.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학술적 근거: 심리학자 크리스티나 마슬락(Christina Maslach)의 번아웃 척도(MBI) — 정서적 소진·비인격화·개인적 성취감 저하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내가 번아웃이라는 걸 인정하기까지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번아웃 vs 단순 피로 vs 매너리즘 vs 방향 상실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EAF2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회복 가능성의 문제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78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피로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3580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신체적 피로. 며칠 쉬거나 휴가를 다녀오면 다시 의욕이 돌아온다.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10312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EAF2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103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성장의 문제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578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매너리즘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03580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이상 배우는 게 없는 정체 상태. 익숙함에 갇혀 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519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EAF2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자원의 문제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7274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번아웃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846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에너지가 고갈된 상태. 쉬어도 거리감과 무기력함이 남는다.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C07A10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519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책이 강조하는 상태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7274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상실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1846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하는 일이 "어디로 가는지" 보이지 않는 상태.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내가 번아웃이라는 걸 인정하기까지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 보는 30대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30대는 지금 어디에 서 있나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331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69.0%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직장인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번아웃 경험률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20574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2331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75.3%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520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30대 번아웃 경험률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 연령대 중 최고)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331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42.4%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520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번아웃 원인 1위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"과도한 업무량"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20574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9720" y="2331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93%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3520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응답자 번아웃 경험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(UiPath 조사)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잡코리아 직장인 342명 설문(2024) · UiPath 한국 응답자 554명 설문(2024)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내가 번아웃이라는 걸 인정하기까지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왜 인정하기가 그렇게 어려운가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49808" cy="749808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956816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556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 = 자기 가치 동일시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13055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"내가 곧 내가 하는 일"이라는 감각이 인정을 어렵게 만든다.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749808" cy="749808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956816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0" y="17556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생애 시기의 무게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132320" y="213055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주거·대출·결혼·육아 등 고정비용이 인정을 뒤로 미루게 한다.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291840"/>
            <a:ext cx="749808" cy="749808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465576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264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매몰비용 감각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363931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"지금까지 쌓은 게 이만큼인데"라는 생각이 발목을 잡는다.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17920" y="3291840"/>
            <a:ext cx="749808" cy="749808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3465576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32320" y="3264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비교에서 오는 침묵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7132320" y="363931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동료들은 멀쩡해 보여 "나만 약한 건가" 싶어진다.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1463040" y="5074920"/>
            <a:ext cx="9235440" cy="777240"/>
          </a:xfrm>
          <a:prstGeom prst="roundRect">
            <a:avLst>
              <a:gd name="adj" fmla="val 14118"/>
            </a:avLst>
          </a:prstGeom>
          <a:solidFill>
            <a:srgbClr val="C07A10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1645920" y="50749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번아웃은 "버틸 수 없는 상태"가 아니라 "버티고 있는 상태"다.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내가 번아웃이라는 걸 인정하기까지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도구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자가진단 — 지금 나는 어디쯤일까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8문항 · 4개 영역 (영역당 2문항)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487168"/>
            <a:ext cx="4937760" cy="530352"/>
          </a:xfrm>
          <a:prstGeom prst="roundRect">
            <a:avLst>
              <a:gd name="adj" fmla="val 13793"/>
            </a:avLst>
          </a:prstGeom>
          <a:solidFill>
            <a:srgbClr val="EA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48716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감정적·정서적 고갈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127248"/>
            <a:ext cx="4937760" cy="530352"/>
          </a:xfrm>
          <a:prstGeom prst="roundRect">
            <a:avLst>
              <a:gd name="adj" fmla="val 13793"/>
            </a:avLst>
          </a:prstGeom>
          <a:solidFill>
            <a:srgbClr val="EAF2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12724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신체적·생리적 고갈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3767328"/>
            <a:ext cx="4937760" cy="530352"/>
          </a:xfrm>
          <a:prstGeom prst="roundRect">
            <a:avLst>
              <a:gd name="adj" fmla="val 13793"/>
            </a:avLst>
          </a:prstGeom>
          <a:solidFill>
            <a:srgbClr val="EAF2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76732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내 갈등·관계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4407408"/>
            <a:ext cx="4937760" cy="530352"/>
          </a:xfrm>
          <a:prstGeom prst="roundRect">
            <a:avLst>
              <a:gd name="adj" fmla="val 13793"/>
            </a:avLst>
          </a:prstGeom>
          <a:solidFill>
            <a:srgbClr val="EAF2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40740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비인격화(거리감·냉소)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55080" y="178308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0535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해석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450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0~2개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24871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비교적 안정적인 상태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2278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3~5개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32644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피로를 넘어서는 신호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4005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이상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40416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휴식·회복을 우선순위에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C07A10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68112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417320" y="52578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 활용: 수강생이 직접 체크한 뒤, 옆 사람과 결과를 짝지어 나눠보게 하면 좋다.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내가 번아웃이라는 걸 인정하기까지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3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418320" y="50292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&amp; 활동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토론 질문 &amp; 수업 활동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874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 지금 번아웃·피로·매너리즘·방향 상실 중 어디에 가장 가까운가?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594360" cy="59436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8346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인정을 어렵게 만드는 나만의 이유는 무엇인가?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6154"/>
            </a:avLst>
          </a:prstGeom>
          <a:solidFill>
            <a:srgbClr val="C07A1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· 오늘의 한 가지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7548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오늘 하루를 한 단어로 적고, 3일간 이어서 기록해본다. 같은 단어가 반복된다면 — 그것이 신호다.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내가 번아웃이라는 걸 인정하기까지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 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1장 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번아웃은 개인의 정신력 문제가 아니라, 관리되지 못한 구조적 신호다.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피로·매너리즘과 구분하는 것이 상태 파악의 첫걸음이다.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"인정"이 있어야 회복이 시작된다.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7498080" cy="1051560"/>
          </a:xfrm>
          <a:prstGeom prst="roundRect">
            <a:avLst>
              <a:gd name="adj" fmla="val 10435"/>
            </a:avLst>
          </a:prstGeom>
          <a:solidFill>
            <a:srgbClr val="C07A1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120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2장. 왜 일하는가</a:t>
            </a:r>
            <a:endParaRPr lang="en-US" sz="2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507492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080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· Career Transition Lab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강의자료 문의: lswon@hansung.ac.kr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Career Transition Lab by Lee Seung Won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번아웃 이후, 다시 그리는 커리어 · 1장 내가 번아웃이라는 걸 인정하기까지</dc:title>
  <dc:subject>번아웃 이후, 다시 그리는 커리어 챕터별 강의자료</dc:subject>
  <dc:creator>이승원</dc:creator>
  <cp:lastModifiedBy>이승원</cp:lastModifiedBy>
  <cp:revision>1</cp:revision>
  <dcterms:created xsi:type="dcterms:W3CDTF">2026-09-22T03:45:43Z</dcterms:created>
  <dcterms:modified xsi:type="dcterms:W3CDTF">2026-09-22T03:45:43Z</dcterms:modified>
</cp:coreProperties>
</file>
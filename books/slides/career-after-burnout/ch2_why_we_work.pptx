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46e846bad84988" /><Relationship Type="http://schemas.openxmlformats.org/officeDocument/2006/relationships/extended-properties" Target="/docProps/app.xml" Id="Rcacdd4b3fa9f43e1" /><Relationship Type="http://schemas.openxmlformats.org/officeDocument/2006/relationships/officeDocument" Target="/ppt/presentation.xml" Id="R20bddc6bec7b49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cdd4722fa1a47a0"/>
  </p:sldMasterIdLst>
  <p:notesMasterIdLst>
    <p:notesMasterId xmlns:r="http://schemas.openxmlformats.org/officeDocument/2006/relationships" r:id="R20398ed5a1514a18"/>
  </p:notesMasterIdLst>
  <p:sldIdLst>
    <p:sldId xmlns:r="http://schemas.openxmlformats.org/officeDocument/2006/relationships" id="256" r:id="Rc0a5299ff2794177"/>
    <p:sldId xmlns:r="http://schemas.openxmlformats.org/officeDocument/2006/relationships" id="257" r:id="Rfdcb1c3d51b745cc"/>
    <p:sldId xmlns:r="http://schemas.openxmlformats.org/officeDocument/2006/relationships" id="258" r:id="Raf349b98a8ce41c6"/>
    <p:sldId xmlns:r="http://schemas.openxmlformats.org/officeDocument/2006/relationships" id="259" r:id="R1e79bff4e2e74493"/>
    <p:sldId xmlns:r="http://schemas.openxmlformats.org/officeDocument/2006/relationships" id="260" r:id="R4b4047e3f3bb4a60"/>
    <p:sldId xmlns:r="http://schemas.openxmlformats.org/officeDocument/2006/relationships" id="261" r:id="R0423dbf380c245de"/>
    <p:sldId xmlns:r="http://schemas.openxmlformats.org/officeDocument/2006/relationships" id="262" r:id="Rfeb93bee471640fe"/>
    <p:sldId xmlns:r="http://schemas.openxmlformats.org/officeDocument/2006/relationships" id="263" r:id="R0474f84c4f014bd6"/>
    <p:sldId xmlns:r="http://schemas.openxmlformats.org/officeDocument/2006/relationships" id="264" r:id="Rb4a1947829774fb2"/>
    <p:sldId xmlns:r="http://schemas.openxmlformats.org/officeDocument/2006/relationships" id="265" r:id="R6f196dc875d6475f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3cb3dd3295c461e" /><Relationship Type="http://schemas.openxmlformats.org/officeDocument/2006/relationships/slideMaster" Target="/ppt/slideMasters/slideMaster1.xml" Id="R4cdd4722fa1a47a0" /><Relationship Type="http://schemas.openxmlformats.org/officeDocument/2006/relationships/notesMaster" Target="/ppt/notesMasters/notesMaster1.xml" Id="R20398ed5a1514a18" /><Relationship Type="http://schemas.openxmlformats.org/officeDocument/2006/relationships/presProps" Target="/ppt/presProps.xml" Id="Rd5b76d55ad134b1d" /><Relationship Type="http://schemas.openxmlformats.org/officeDocument/2006/relationships/viewProps" Target="/ppt/viewProps.xml" Id="Red109daf720d4e1e" /><Relationship Type="http://schemas.openxmlformats.org/officeDocument/2006/relationships/tableStyles" Target="/ppt/tableStyles.xml" Id="Rf20aacd6fe8f40df" /><Relationship Type="http://schemas.openxmlformats.org/officeDocument/2006/relationships/slide" Target="/ppt/slides/slide1.xml" Id="Rc0a5299ff2794177" /><Relationship Type="http://schemas.openxmlformats.org/officeDocument/2006/relationships/slide" Target="/ppt/slides/slide2.xml" Id="Rfdcb1c3d51b745cc" /><Relationship Type="http://schemas.openxmlformats.org/officeDocument/2006/relationships/slide" Target="/ppt/slides/slide3.xml" Id="Raf349b98a8ce41c6" /><Relationship Type="http://schemas.openxmlformats.org/officeDocument/2006/relationships/slide" Target="/ppt/slides/slide4.xml" Id="R1e79bff4e2e74493" /><Relationship Type="http://schemas.openxmlformats.org/officeDocument/2006/relationships/slide" Target="/ppt/slides/slide5.xml" Id="R4b4047e3f3bb4a60" /><Relationship Type="http://schemas.openxmlformats.org/officeDocument/2006/relationships/slide" Target="/ppt/slides/slide6.xml" Id="R0423dbf380c245de" /><Relationship Type="http://schemas.openxmlformats.org/officeDocument/2006/relationships/slide" Target="/ppt/slides/slide7.xml" Id="Rfeb93bee471640fe" /><Relationship Type="http://schemas.openxmlformats.org/officeDocument/2006/relationships/slide" Target="/ppt/slides/slide8.xml" Id="R0474f84c4f014bd6" /><Relationship Type="http://schemas.openxmlformats.org/officeDocument/2006/relationships/slide" Target="/ppt/slides/slide9.xml" Id="Rb4a1947829774fb2" /><Relationship Type="http://schemas.openxmlformats.org/officeDocument/2006/relationships/slide" Target="/ppt/slides/slide10.xml" Id="R6f196dc875d647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c1774186f4243e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b676fc2f69743e0" /><Relationship Type="http://schemas.openxmlformats.org/officeDocument/2006/relationships/notesMaster" Target="/ppt/notesMasters/notesMaster1.xml" Id="R02e6c18c694048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a84afd16c0d4668" /><Relationship Type="http://schemas.openxmlformats.org/officeDocument/2006/relationships/notesMaster" Target="/ppt/notesMasters/notesMaster1.xml" Id="R1d15c4d837764f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3d6126656804a71" /><Relationship Type="http://schemas.openxmlformats.org/officeDocument/2006/relationships/notesMaster" Target="/ppt/notesMasters/notesMaster1.xml" Id="R608b82a50cae405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2dd37e0a23c4f74" /><Relationship Type="http://schemas.openxmlformats.org/officeDocument/2006/relationships/notesMaster" Target="/ppt/notesMasters/notesMaster1.xml" Id="R2b66d17cdc39407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3296e39e4ab4c55" /><Relationship Type="http://schemas.openxmlformats.org/officeDocument/2006/relationships/notesMaster" Target="/ppt/notesMasters/notesMaster1.xml" Id="R0f529ebc216742a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7894c88ff8e4bc4" /><Relationship Type="http://schemas.openxmlformats.org/officeDocument/2006/relationships/notesMaster" Target="/ppt/notesMasters/notesMaster1.xml" Id="Rf081f9cf9bb842e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b38584feaca437f" /><Relationship Type="http://schemas.openxmlformats.org/officeDocument/2006/relationships/notesMaster" Target="/ppt/notesMasters/notesMaster1.xml" Id="Rb08f985a2c6c447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a7f6e64724748f2" /><Relationship Type="http://schemas.openxmlformats.org/officeDocument/2006/relationships/notesMaster" Target="/ppt/notesMasters/notesMaster1.xml" Id="R24b53912eaa04fe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107ac7125ac461c" /><Relationship Type="http://schemas.openxmlformats.org/officeDocument/2006/relationships/notesMaster" Target="/ppt/notesMasters/notesMaster1.xml" Id="R98b9e936809242e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ea3aa92970f4ed6" /><Relationship Type="http://schemas.openxmlformats.org/officeDocument/2006/relationships/notesMaster" Target="/ppt/notesMasters/notesMaster1.xml" Id="Rf101e7cda8d54ca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1/10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2/10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3/10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4/10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5/10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6/10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7/10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8/10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9/10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번아웃 이후, 다시 그리는 커리어 2장 강의자료. 이승원 저서 2장에 근거한 교강사용 미니 렉처. 10/10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0570b0eafea4013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5bcdf81dcee48f8" /><Relationship Type="http://schemas.openxmlformats.org/officeDocument/2006/relationships/slideLayout" Target="/ppt/slideLayouts/slideLayout1.xml" Id="R9cc13dd0c16943b1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cc13dd0c16943b1"/>
  </p:sldLayoutIdLst>
  <p:hf sldNum="0" hdr="0" ftr="0" dt="0"/>
  <p:txStyles>
    <p:titleStyle>
      <a:lvl1pPr xmlns:a="http://schemas.openxmlformats.org/drawingml/2006/main"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552d6b2efb40f1" /><Relationship Type="http://schemas.openxmlformats.org/officeDocument/2006/relationships/image" Target="/ppt/media/image.png" Id="R1002737eff494fb2" /><Relationship Type="http://schemas.openxmlformats.org/officeDocument/2006/relationships/notesSlide" Target="/ppt/notesSlides/notesSlide1.xml" Id="R2db82b55327643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52f82af2094d87" /><Relationship Type="http://schemas.openxmlformats.org/officeDocument/2006/relationships/image" Target="/ppt/media/image2.png" Id="R8ae34b86161f4b90" /><Relationship Type="http://schemas.openxmlformats.org/officeDocument/2006/relationships/image" Target="/ppt/media/image3.png" Id="Rc47f2b2d17574a75" /><Relationship Type="http://schemas.openxmlformats.org/officeDocument/2006/relationships/image" Target="/ppt/media/image4.png" Id="Rab9c7db0df504cbe" /><Relationship Type="http://schemas.openxmlformats.org/officeDocument/2006/relationships/notesSlide" Target="/ppt/notesSlides/notesSlide2.xml" Id="R9d9ca5a487cd4a0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f6c8028ef75470a" /><Relationship Type="http://schemas.openxmlformats.org/officeDocument/2006/relationships/notesSlide" Target="/ppt/notesSlides/notesSlide3.xml" Id="Rd18b20ecdbca438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34bf1b4a5d4d7b" /><Relationship Type="http://schemas.openxmlformats.org/officeDocument/2006/relationships/image" Target="/ppt/media/image5.png" Id="R412a4c3e7558476c" /><Relationship Type="http://schemas.openxmlformats.org/officeDocument/2006/relationships/image" Target="/ppt/media/image6.png" Id="R55616dbe0dba46f3" /><Relationship Type="http://schemas.openxmlformats.org/officeDocument/2006/relationships/image" Target="/ppt/media/image7.png" Id="Rbaad4dd27ead4cac" /><Relationship Type="http://schemas.openxmlformats.org/officeDocument/2006/relationships/notesSlide" Target="/ppt/notesSlides/notesSlide4.xml" Id="Rd137de157c004157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3014edcda0470a" /><Relationship Type="http://schemas.openxmlformats.org/officeDocument/2006/relationships/notesSlide" Target="/ppt/notesSlides/notesSlide5.xml" Id="R4a40651ad32b4e2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fbbba9147141f7" /><Relationship Type="http://schemas.openxmlformats.org/officeDocument/2006/relationships/notesSlide" Target="/ppt/notesSlides/notesSlide6.xml" Id="R8416e28812de441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2c37fbba5841bb" /><Relationship Type="http://schemas.openxmlformats.org/officeDocument/2006/relationships/image" Target="/ppt/media/image8.png" Id="Re86fd86910a248c4" /><Relationship Type="http://schemas.openxmlformats.org/officeDocument/2006/relationships/image" Target="/ppt/media/image9.png" Id="R30d17a2902af491d" /><Relationship Type="http://schemas.openxmlformats.org/officeDocument/2006/relationships/image" Target="/ppt/media/image10.png" Id="R3f6e3948d1164313" /><Relationship Type="http://schemas.openxmlformats.org/officeDocument/2006/relationships/image" Target="/ppt/media/image11.png" Id="R0427b4f6b2a343f6" /><Relationship Type="http://schemas.openxmlformats.org/officeDocument/2006/relationships/notesSlide" Target="/ppt/notesSlides/notesSlide7.xml" Id="Rb6a642df99a9486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739a9c043f4bbb" /><Relationship Type="http://schemas.openxmlformats.org/officeDocument/2006/relationships/image" Target="/ppt/media/image12.png" Id="Rb89377cdec6f46a2" /><Relationship Type="http://schemas.openxmlformats.org/officeDocument/2006/relationships/notesSlide" Target="/ppt/notesSlides/notesSlide8.xml" Id="Ra5aceb0b6da3446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c1c6c5aca54a78" /><Relationship Type="http://schemas.openxmlformats.org/officeDocument/2006/relationships/image" Target="/ppt/media/image13.png" Id="R9f3de2a862e14e0e" /><Relationship Type="http://schemas.openxmlformats.org/officeDocument/2006/relationships/notesSlide" Target="/ppt/notesSlides/notesSlide9.xml" Id="R2623370a99ee4a3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580ada74a1c4fc2" /><Relationship Type="http://schemas.openxmlformats.org/officeDocument/2006/relationships/image" Target="/ppt/media/image14.png" Id="R1337cbe9a2f24457" /><Relationship Type="http://schemas.openxmlformats.org/officeDocument/2006/relationships/notesSlide" Target="/ppt/notesSlides/notesSlide10.xml" Id="R71bc74611316496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32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002737eff494fb2">
            <a:alphaModFix amt="12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778240" y="1463040"/>
            <a:ext cx="3108960" cy="310896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0970B06D-C1DE-40B6-8E18-06DAA7AD3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417320"/>
            <a:ext cx="914400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CAREER TRANSITION LAB · VOL.2 강의자료</a:t>
            </a:r>
            <a:endParaRPr sz="14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A48F5CE3-EBE2-4823-85EB-F74829DED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1965960"/>
            <a:ext cx="9601200" cy="1554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05000"/>
              </a:lnSpc>
              <a:buNone/>
            </a:pPr>
            <a:r>
              <a:rPr sz="4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번아웃 이후, 다시 그리는 커리어</a:t>
            </a:r>
            <a:endParaRPr sz="4200"/>
          </a:p>
        </p:txBody>
      </p:sp>
      <p:sp>
        <p:nvSpPr>
          <p:cNvPr id="5" name="Text 2">
            <a:extLst xmlns:a="http://schemas.openxmlformats.org/drawingml/2006/main">
              <a:ext uri="{FF2B5EF4-FFF2-40B4-BE49-F238E27FC236}">
                <a16:creationId xmlns:a16="http://schemas.microsoft.com/office/drawing/2014/main" id="{9755B0F0-0A6C-4840-BBB4-86A3075D0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83280"/>
            <a:ext cx="91440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>
                <a:solidFill>
                  <a:srgbClr val="C4D8D5"/>
                </a:solidFill>
                <a:latin typeface="Calibri"/>
                <a:ea typeface="Calibri"/>
                <a:cs typeface="Calibri"/>
              </a:rPr>
              <a:t>2장 · 왜 일하는가를 다시 묻는 시간</a:t>
            </a:r>
            <a:endParaRPr sz="2200"/>
          </a:p>
        </p:txBody>
      </p:sp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90176E0F-43DE-4C46-8F99-5F49116DE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212080"/>
            <a:ext cx="3749040" cy="566928"/>
          </a:xfrm>
          <a:prstGeom xmlns:a="http://schemas.openxmlformats.org/drawingml/2006/main" prst="roundRect">
            <a:avLst>
              <a:gd name="adj" fmla="val 19355"/>
            </a:avLst>
          </a:prstGeom>
          <a:solidFill xmlns:a="http://schemas.openxmlformats.org/drawingml/2006/main">
            <a:srgbClr val="05353B"/>
          </a:solidFill>
          <a:ln xmlns:a="http://schemas.openxmlformats.org/drawingml/2006/main" w="12700">
            <a:solidFill>
              <a:srgbClr val="2E5A57"/>
            </a:solidFill>
            <a:prstDash val="solid"/>
          </a:ln>
        </p:spPr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2C7EC6D1-23AD-4AB7-AFF8-3F3F0D2B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5212080"/>
            <a:ext cx="3749040" cy="5669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300" b="1">
                <a:solidFill>
                  <a:srgbClr val="EAF2F1"/>
                </a:solidFill>
                <a:latin typeface="Calibri"/>
                <a:ea typeface="Calibri"/>
                <a:cs typeface="Calibri"/>
              </a:rPr>
              <a:t>교강사용 미니 렉처 · 8~10분 분량</a:t>
            </a:r>
            <a:endParaRPr sz="1300"/>
          </a:p>
        </p:txBody>
      </p:sp>
      <p:sp>
        <p:nvSpPr>
          <p:cNvPr id="8" name="Text 5">
            <a:extLst xmlns:a="http://schemas.openxmlformats.org/drawingml/2006/main">
              <a:ext uri="{FF2B5EF4-FFF2-40B4-BE49-F238E27FC236}">
                <a16:creationId xmlns:a16="http://schemas.microsoft.com/office/drawing/2014/main" id="{D34CAA8A-F949-4914-B929-9B62FCE9B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617220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>
                <a:solidFill>
                  <a:srgbClr val="8FA8A4"/>
                </a:solidFill>
                <a:latin typeface="Calibri"/>
                <a:ea typeface="Calibri"/>
                <a:cs typeface="Calibri"/>
              </a:rPr>
              <a:t>이승원 | LEE SEUNG WON  ·  Career Transition Lab</a:t>
            </a:r>
            <a:endParaRPr sz="1200"/>
          </a:p>
        </p:txBody>
      </p:sp>
    </p:spTree>
    <p:extLst>
      <p:ext uri="{BB962C8B-B14F-4D97-AF65-F5344CB8AC3E}">
        <p14:creationId xmlns:p14="http://schemas.microsoft.com/office/powerpoint/2010/main" val="10176256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7B1EFD66-E044-4754-9A21-BF1D8A0AF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학습 목표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A8B40491-6EBC-4F50-AB81-A0DCCBE4E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00584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05353B"/>
                </a:solidFill>
                <a:latin typeface="Century Schoolbook"/>
                <a:ea typeface="Century Schoolbook"/>
                <a:cs typeface="Century Schoolbook"/>
              </a:rPr>
              <a:t>이 장에서 다룰 것</a:t>
            </a:r>
            <a:endParaRPr sz="3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3768427C-6119-47D2-A52D-4BCC55AB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87452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</p:sp>
      <p:pic>
        <p:nvPicPr>
          <p:cNvPr id="2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ae34b86161f4b9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5937" y="2100377"/>
            <a:ext cx="416966" cy="416966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AEB95000-DD12-42B4-84D3-5F0295DD2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1856232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일의 의미가 달라지는 순간 알아차리기</a:t>
            </a:r>
            <a:endParaRPr sz="19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578D756-8C85-4C47-A4F7-E68A7D764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2295144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같은 일을 하면서도 달라진 마음을 살피고, 지금의 질문을 말할 수 있다.</a:t>
            </a:r>
            <a:endParaRPr sz="14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A6A4FE08-9799-4B2A-9F5F-0E8FEAF0A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329184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</p:sp>
      <p:pic>
        <p:nvPicPr>
          <p:cNvPr id="2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47f2b2d17574a75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5937" y="3517697"/>
            <a:ext cx="416966" cy="416966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A8C37F0E-5EDB-4EB9-9762-2F4ACF62F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3273552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일과의 관계 세 가지 이해하기</a:t>
            </a:r>
            <a:endParaRPr sz="190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377936E8-95F8-4B46-A589-8807006DC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3712464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일을 생계·성장·소명의 관점에서 바라보고, 자신에게 중요한 가치를 찾는다.</a:t>
            </a:r>
            <a:endParaRPr sz="14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6320E09B-E58A-43FC-AD4C-3D20304A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709160"/>
            <a:ext cx="868680" cy="8686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</p:sp>
      <p:pic>
        <p:nvPicPr>
          <p:cNvPr id="31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c7db0df504cbe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65937" y="4935017"/>
            <a:ext cx="416966" cy="416966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7A61EB8F-D165-495C-9710-9CFA2DAA9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4690872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9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작은 실험으로 방향 탐색하기</a:t>
            </a:r>
            <a:endParaRPr sz="190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40E2F9CF-7656-4786-9B19-F4D37A69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83080" y="5129784"/>
            <a:ext cx="896112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4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퇴사 결론을 서두르지 않고, 일의 의미를 다시 연결할 한 가지 행동을 정한다.</a:t>
            </a:r>
            <a:endParaRPr sz="1400"/>
          </a:p>
        </p:txBody>
      </p:sp>
      <p:sp>
        <p:nvSpPr>
          <p:cNvPr id="16" name="Text 11">
            <a:extLst xmlns:a="http://schemas.openxmlformats.org/drawingml/2006/main">
              <a:ext uri="{FF2B5EF4-FFF2-40B4-BE49-F238E27FC236}">
                <a16:creationId xmlns:a16="http://schemas.microsoft.com/office/drawing/2014/main" id="{249B6D03-CB5D-41EA-8A08-7CBDAC110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2장 · 왜 일하는가를 다시 묻는 시간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5330129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C01BD35-E1B0-4CC3-8D80-F613CFB3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오프닝 사례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7EDE81B1-C6DF-463B-88E3-CAD88E53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5353B"/>
                </a:solidFill>
                <a:latin typeface="Century Schoolbook"/>
                <a:ea typeface="Century Schoolbook"/>
                <a:cs typeface="Century Schoolbook"/>
              </a:rPr>
              <a:t>같은 일인데, 왜 다르게 느껴질까</a:t>
            </a:r>
            <a:endParaRPr sz="30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F8417899-8047-4619-97C7-9EEF4EE7A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6949440" cy="416052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05353B"/>
          </a:solidFill>
          <a:effectLst xmlns:a="http://schemas.openxmlformats.org/drawingml/2006/main">
            <a:outerShdw blurRad="152400" dist="50800" dir="5400000" sx="100000" sy="100000" kx="0" ky="0" algn="bl" rotWithShape="0">
              <a:srgbClr val="000000">
                <a:alpha val="25000"/>
              </a:srgbClr>
            </a:outerShdw>
          </a:effectLst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80093729-6FF3-4177-B29C-9E58C5EF8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57400"/>
            <a:ext cx="6217920" cy="3611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/>
          <a:lstStyle xmlns:a="http://schemas.openxmlformats.org/drawingml/2006/main"/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rPr sz="155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금융회사 11년차 윤성민은 입사 첫해의 수첩을 다시 펼친다.</a:t>
            </a:r>
            <a:endParaRPr sz="1550"/>
          </a:p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t/>
            </a:r>
            <a:endParaRPr sz="1550"/>
          </a:p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rPr sz="155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“이 회사의 숫자가 어디로 흘러가는지, 그 흐름을 가장 먼저 읽는 사람이 되고 싶다.”</a:t>
            </a:r>
            <a:endParaRPr sz="1550"/>
          </a:p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t/>
            </a:r>
            <a:endParaRPr sz="1550"/>
          </a:p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rPr sz="155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지금도 숫자를 다루지만, 하루는 처리할 일 목록으로 채워진다. 퇴근길에 문득 묻는다.</a:t>
            </a:r>
            <a:endParaRPr sz="1550"/>
          </a:p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t/>
            </a:r>
            <a:endParaRPr sz="1550"/>
          </a:p>
          <a:p xmlns:a="http://schemas.openxmlformats.org/drawingml/2006/main">
            <a:pPr marL="0" indent="0">
              <a:lnSpc>
                <a:spcPct val="128000"/>
              </a:lnSpc>
              <a:buNone/>
            </a:pPr>
            <a:r>
              <a:rPr sz="1550" i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“나는 왜 이 일을 하고 있는 거지?”</a:t>
            </a:r>
            <a:endParaRPr sz="155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F756537C-4BD6-4285-BB49-FBCE56CB8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1783080"/>
            <a:ext cx="3886200" cy="1234440"/>
          </a:xfrm>
          <a:prstGeom xmlns:a="http://schemas.openxmlformats.org/drawingml/2006/main" prst="roundRect">
            <a:avLst>
              <a:gd name="adj" fmla="val 7407"/>
            </a:avLst>
          </a:prstGeom>
          <a:solidFill xmlns:a="http://schemas.openxmlformats.org/drawingml/2006/main">
            <a:srgbClr val="EAF2F1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111A41E8-52A0-4829-8C08-F944D7A79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1965960"/>
            <a:ext cx="3474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금융회사 11년차 · 윤성민</a:t>
            </a:r>
            <a:endParaRPr sz="13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DE7B8C7A-CD42-4E03-AB14-0F02697E6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5280" y="2331720"/>
            <a:ext cx="347472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“나는 왜 이 일을 하고 있는 거지?”</a:t>
            </a:r>
            <a:endParaRPr sz="13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393B74A4-DEDD-4725-B47B-F52ACA6B2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80" y="3246120"/>
            <a:ext cx="3886200" cy="2697480"/>
          </a:xfrm>
          <a:prstGeom xmlns:a="http://schemas.openxmlformats.org/drawingml/2006/main" prst="roundRect">
            <a:avLst>
              <a:gd name="adj" fmla="val 3390"/>
            </a:avLst>
          </a:prstGeom>
          <a:solidFill xmlns:a="http://schemas.openxmlformats.org/drawingml/2006/main">
            <a:srgbClr val="C07A10"/>
          </a:solidFill>
        </p:spPr>
      </p:sp>
      <p:sp>
        <p:nvSpPr>
          <p:cNvPr id="10" name="Text 8">
            <a:extLst xmlns:a="http://schemas.openxmlformats.org/drawingml/2006/main">
              <a:ext uri="{FF2B5EF4-FFF2-40B4-BE49-F238E27FC236}">
                <a16:creationId xmlns:a16="http://schemas.microsoft.com/office/drawing/2014/main" id="{174D0BB0-76D0-4F97-BEFC-52215AC95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456432"/>
            <a:ext cx="33832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E9C7"/>
                </a:solidFill>
                <a:latin typeface="Calibri"/>
                <a:ea typeface="Calibri"/>
                <a:cs typeface="Calibri"/>
              </a:rPr>
              <a:t>생각해 볼 질문</a:t>
            </a:r>
            <a:endParaRPr sz="1300"/>
          </a:p>
        </p:txBody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B87E35AF-3790-4A75-932E-CAA40226F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40480"/>
            <a:ext cx="3383280" cy="1920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9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처음 이 일을 시작한 이유와</a:t>
            </a:r>
            <a:endParaRPr sz="1900"/>
          </a:p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9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지금 계속하는 이유는 같은가?</a:t>
            </a:r>
            <a:endParaRPr sz="19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BB16A042-1A1B-4747-9E06-066EE75FE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2장 · 왜 일하는가를 다시 묻는 시간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8155275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09843454-0289-4628-BA56-F3B80B5004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핵심 개념 1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6A34475-C53D-401D-A70C-F1D4A6A0E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05353B"/>
                </a:solidFill>
                <a:latin typeface="Century Schoolbook"/>
                <a:ea typeface="Century Schoolbook"/>
                <a:cs typeface="Century Schoolbook"/>
              </a:rPr>
              <a:t>일을 바라보는 세 가지 관점</a:t>
            </a:r>
            <a:endParaRPr sz="3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007EB299-AEC4-4905-B2C1-8C46F5464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691640"/>
            <a:ext cx="11064240" cy="105156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AF2F1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C5C67860-B275-4384-8CE2-F053C5565E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691640"/>
            <a:ext cx="1042416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6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일을 바라보는 관점은 고정된 성격이나 우열이 아니다. 같은 사람도 시기와 상황에 따라 생계·성장·소명 가운데 다른 가치를 앞세울 수 있다.</a:t>
            </a:r>
            <a:endParaRPr sz="16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580C03C5-D3DF-401B-8D11-A444190A9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063240"/>
            <a:ext cx="3520440" cy="25146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DFDE"/>
            </a:solidFill>
            <a:prstDash val="solid"/>
          </a:ln>
        </p:spPr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13AE9A4-DB9D-4151-AAF7-DA2C26F89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1660" y="329184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</p:sp>
      <p:pic>
        <p:nvPicPr>
          <p:cNvPr id="3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2a4c3e7558476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2089404" y="3529584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5A3B4B34-8260-445A-83CA-FF6F5B0DF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34340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생계 · Job</a:t>
            </a:r>
            <a:endParaRPr sz="165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6134B9A4-9697-4C84-B28A-C99CF1920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28032"/>
            <a:ext cx="30632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수입과 생활의 안정을</a:t>
            </a:r>
            <a:endParaRPr sz="1250"/>
          </a:p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일의 중요한 이유로 둔다.</a:t>
            </a:r>
            <a:endParaRPr sz="125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6EF9DE1E-EB5C-41E1-AC61-CD3CE67C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063240"/>
            <a:ext cx="3520440" cy="25146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DFDE"/>
            </a:solidFill>
            <a:prstDash val="solid"/>
          </a:ln>
        </p:spPr>
      </p:sp>
      <p:sp>
        <p:nvSpPr>
          <p:cNvPr id="12" name="Shape 9">
            <a:extLst xmlns:a="http://schemas.openxmlformats.org/drawingml/2006/main">
              <a:ext uri="{FF2B5EF4-FFF2-40B4-BE49-F238E27FC236}">
                <a16:creationId xmlns:a16="http://schemas.microsoft.com/office/drawing/2014/main" id="{AA45627C-1F03-4000-A824-70FB2B8686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46420" y="329184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</p:sp>
      <p:pic>
        <p:nvPicPr>
          <p:cNvPr id="37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616dbe0dba46f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884164" y="3529584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E23A320F-F243-45F2-B422-3EFF54440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34340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성장 · Career</a:t>
            </a:r>
            <a:endParaRPr sz="1650"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95FDC071-15E6-4FAE-AAEF-8998A0D5A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828032"/>
            <a:ext cx="30632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배움·성과·진전을</a:t>
            </a:r>
            <a:endParaRPr sz="1250"/>
          </a:p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일의 중요한 이유로 둔다.</a:t>
            </a:r>
            <a:endParaRPr sz="1250"/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D924992B-BE2C-4313-8F9A-613778418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3063240"/>
            <a:ext cx="3520440" cy="251460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D7DFDE"/>
            </a:solidFill>
            <a:prstDash val="solid"/>
          </a:ln>
        </p:spPr>
      </p:sp>
      <p:sp>
        <p:nvSpPr>
          <p:cNvPr id="17" name="Shape 13">
            <a:extLst xmlns:a="http://schemas.openxmlformats.org/drawingml/2006/main">
              <a:ext uri="{FF2B5EF4-FFF2-40B4-BE49-F238E27FC236}">
                <a16:creationId xmlns:a16="http://schemas.microsoft.com/office/drawing/2014/main" id="{2AD41FE6-B8F0-43B0-8B33-41EAEEBB1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1180" y="3291840"/>
            <a:ext cx="914400" cy="914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</p:sp>
      <p:pic>
        <p:nvPicPr>
          <p:cNvPr id="42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aad4dd27ead4cac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678924" y="3529584"/>
            <a:ext cx="438912" cy="438912"/>
          </a:xfrm>
          <a:prstGeom xmlns:a="http://schemas.openxmlformats.org/drawingml/2006/main" prst="rect">
            <a:avLst/>
          </a:prstGeom>
        </p:spPr>
      </p:pic>
      <p:sp>
        <p:nvSpPr>
          <p:cNvPr id="19" name="Text 14">
            <a:extLst xmlns:a="http://schemas.openxmlformats.org/drawingml/2006/main">
              <a:ext uri="{FF2B5EF4-FFF2-40B4-BE49-F238E27FC236}">
                <a16:creationId xmlns:a16="http://schemas.microsoft.com/office/drawing/2014/main" id="{65F4033A-B6F4-4841-8CFE-43A66ECD3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1040" y="4343400"/>
            <a:ext cx="31546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6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소명 · Calling</a:t>
            </a:r>
            <a:endParaRPr sz="1650"/>
          </a:p>
        </p:txBody>
      </p:sp>
      <p:sp>
        <p:nvSpPr>
          <p:cNvPr id="20" name="Text 15">
            <a:extLst xmlns:a="http://schemas.openxmlformats.org/drawingml/2006/main">
              <a:ext uri="{FF2B5EF4-FFF2-40B4-BE49-F238E27FC236}">
                <a16:creationId xmlns:a16="http://schemas.microsoft.com/office/drawing/2014/main" id="{CC7B45D5-C3E1-467B-8EBD-D8D35CDCF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6760" y="4828032"/>
            <a:ext cx="306324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정체성·기여·의미를</a:t>
            </a:r>
            <a:endParaRPr sz="1250"/>
          </a:p>
          <a:p xmlns:a="http://schemas.openxmlformats.org/drawingml/2006/main">
            <a:pPr marL="0" indent="0" algn="ctr">
              <a:lnSpc>
                <a:spcPct val="120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일의 중요한 이유로 둔다.</a:t>
            </a:r>
            <a:endParaRPr sz="1250"/>
          </a:p>
        </p:txBody>
      </p:sp>
      <p:sp>
        <p:nvSpPr>
          <p:cNvPr id="21" name="Text 16">
            <a:extLst xmlns:a="http://schemas.openxmlformats.org/drawingml/2006/main">
              <a:ext uri="{FF2B5EF4-FFF2-40B4-BE49-F238E27FC236}">
                <a16:creationId xmlns:a16="http://schemas.microsoft.com/office/drawing/2014/main" id="{39A6FB13-87B1-4743-8B7C-B048DC393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806440"/>
            <a:ext cx="1106424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참고: Wrzesniewski 외(1997), 일을 바라보는 Job·Career·Calling 관점. 세 관점은 우열이 아니다.</a:t>
            </a:r>
            <a:endParaRPr sz="1100"/>
          </a:p>
        </p:txBody>
      </p:sp>
      <p:sp>
        <p:nvSpPr>
          <p:cNvPr id="22" name="Text 17">
            <a:extLst xmlns:a="http://schemas.openxmlformats.org/drawingml/2006/main">
              <a:ext uri="{FF2B5EF4-FFF2-40B4-BE49-F238E27FC236}">
                <a16:creationId xmlns:a16="http://schemas.microsoft.com/office/drawing/2014/main" id="{C7616DA6-0312-4B40-A462-C8F2FE9EC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2장 · 왜 일하는가를 다시 묻는 시간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38637435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AF2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FC4FFB62-9DC0-4498-B553-B5C6106A0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핵심 개념 2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C461BFD9-ADCD-4D4E-8399-E4471DB6A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106424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700" b="1">
                <a:solidFill>
                  <a:srgbClr val="05353B"/>
                </a:solidFill>
                <a:latin typeface="Century Schoolbook"/>
                <a:ea typeface="Century Schoolbook"/>
                <a:cs typeface="Century Schoolbook"/>
              </a:rPr>
              <a:t>“왜 일하는가”를 묻는 네 가지 단서</a:t>
            </a:r>
            <a:endParaRPr sz="27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9B0EF5FF-E4B7-4189-AFF2-9CB35052A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828800"/>
            <a:ext cx="5394960" cy="187452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101600" dist="38100" dir="5400000" sx="100000" sy="100000" kx="0" ky="0" algn="bl" rotWithShape="0">
              <a:srgbClr val="000000">
                <a:alpha val="15000"/>
              </a:srgbClr>
            </a:outerShdw>
          </a:effectLst>
        </p:spPr>
      </p:sp>
      <p:sp>
        <p:nvSpPr>
          <p:cNvPr id="5" name="Shape 3">
            <a:extLst xmlns:a="http://schemas.openxmlformats.org/drawingml/2006/main">
              <a:ext uri="{FF2B5EF4-FFF2-40B4-BE49-F238E27FC236}">
                <a16:creationId xmlns:a16="http://schemas.microsoft.com/office/drawing/2014/main" id="{02A57792-8D03-4C10-93B2-8F22FEF2D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03120"/>
            <a:ext cx="2468880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AF2F1"/>
          </a:solidFill>
        </p:spPr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FA2390FA-A8DD-4415-94F4-20890F948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103120"/>
            <a:ext cx="24688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생활의 조건</a:t>
            </a:r>
            <a:endParaRPr sz="1050"/>
          </a:p>
        </p:txBody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FDD30ED7-75E1-414A-A926-18DB0A5AD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578608"/>
            <a:ext cx="4754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생계와 안정</a:t>
            </a:r>
            <a:endParaRPr sz="2000"/>
          </a:p>
        </p:txBody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E64B2E5-5367-466D-B61A-098DFD20E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035808"/>
            <a:ext cx="47548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수입과 생활의 안정은 정당한 가치다. 지금 필요한 조건을 구체적으로 적는다.</a:t>
            </a:r>
            <a:endParaRPr sz="1250"/>
          </a:p>
        </p:txBody>
      </p:sp>
      <p:sp>
        <p:nvSpPr>
          <p:cNvPr id="9" name="Shape 7">
            <a:extLst xmlns:a="http://schemas.openxmlformats.org/drawingml/2006/main">
              <a:ext uri="{FF2B5EF4-FFF2-40B4-BE49-F238E27FC236}">
                <a16:creationId xmlns:a16="http://schemas.microsoft.com/office/drawing/2014/main" id="{8CEF88B4-3622-4438-A49F-CBB22CD1A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828800"/>
            <a:ext cx="5394960" cy="187452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101600" dist="38100" dir="5400000" sx="100000" sy="100000" kx="0" ky="0" algn="bl" rotWithShape="0">
              <a:srgbClr val="000000">
                <a:alpha val="15000"/>
              </a:srgbClr>
            </a:outerShdw>
          </a:effectLst>
        </p:spPr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06447321-F04F-4EA0-91F6-C0D01446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103120"/>
            <a:ext cx="2468880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AF2F1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CFC24A0-782D-45F3-92C0-06B76D486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103120"/>
            <a:ext cx="24688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성장과 역량</a:t>
            </a:r>
            <a:endParaRPr sz="105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D2687300-CDFA-4990-9264-F75482FE8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2578608"/>
            <a:ext cx="4754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배움과 진전</a:t>
            </a:r>
            <a:endParaRPr sz="2000"/>
          </a:p>
        </p:txBody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BD6EC2A4-DDD0-470A-B706-2BBC6B9D2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3035808"/>
            <a:ext cx="47548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어떤 일에서 배우고 있다는 느낌이 드는지 되짚는다.</a:t>
            </a:r>
            <a:endParaRPr sz="12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829329A8-1776-466D-8FE2-ED70632F1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977640"/>
            <a:ext cx="5394960" cy="187452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FFFFFF"/>
          </a:solidFill>
          <a:effectLst xmlns:a="http://schemas.openxmlformats.org/drawingml/2006/main">
            <a:outerShdw blurRad="101600" dist="38100" dir="5400000" sx="100000" sy="100000" kx="0" ky="0" algn="bl" rotWithShape="0">
              <a:srgbClr val="000000">
                <a:alpha val="15000"/>
              </a:srgbClr>
            </a:outerShdw>
          </a:effectLst>
        </p:spPr>
      </p:sp>
      <p:sp>
        <p:nvSpPr>
          <p:cNvPr id="15" name="Shape 13">
            <a:extLst xmlns:a="http://schemas.openxmlformats.org/drawingml/2006/main">
              <a:ext uri="{FF2B5EF4-FFF2-40B4-BE49-F238E27FC236}">
                <a16:creationId xmlns:a16="http://schemas.microsoft.com/office/drawing/2014/main" id="{3BBBD6C2-0887-4F57-B46A-A247882D4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51960"/>
            <a:ext cx="2468880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EAF2F1"/>
          </a:solidFill>
        </p:spPr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C33852D5-5119-41E2-9772-CFE6D185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251960"/>
            <a:ext cx="24688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관계와 기여</a:t>
            </a:r>
            <a:endParaRPr sz="105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3AC19850-2C5B-44CB-9A31-D4159AF449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727448"/>
            <a:ext cx="4754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도움과 연결</a:t>
            </a:r>
            <a:endParaRPr sz="200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D81C091-DDA7-45C4-91CC-EF1E9D744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84648"/>
            <a:ext cx="47548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내 일이 누구에게 어떤 도움을 주는지 살핀다.</a:t>
            </a:r>
            <a:endParaRPr sz="1250"/>
          </a:p>
        </p:txBody>
      </p:sp>
      <p:sp>
        <p:nvSpPr>
          <p:cNvPr id="19" name="Shape 17">
            <a:extLst xmlns:a="http://schemas.openxmlformats.org/drawingml/2006/main">
              <a:ext uri="{FF2B5EF4-FFF2-40B4-BE49-F238E27FC236}">
                <a16:creationId xmlns:a16="http://schemas.microsoft.com/office/drawing/2014/main" id="{85154ED6-3A9D-4421-94FA-165C90C7A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977640"/>
            <a:ext cx="5394960" cy="187452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C07A10"/>
          </a:solidFill>
          <a:effectLst xmlns:a="http://schemas.openxmlformats.org/drawingml/2006/main">
            <a:outerShdw blurRad="101600" dist="38100" dir="5400000" sx="100000" sy="100000" kx="0" ky="0" algn="bl" rotWithShape="0">
              <a:srgbClr val="000000">
                <a:alpha val="15000"/>
              </a:srgbClr>
            </a:outerShdw>
          </a:effectLst>
        </p:spPr>
      </p:sp>
      <p:sp>
        <p:nvSpPr>
          <p:cNvPr id="20" name="Shape 18">
            <a:extLst xmlns:a="http://schemas.openxmlformats.org/drawingml/2006/main">
              <a:ext uri="{FF2B5EF4-FFF2-40B4-BE49-F238E27FC236}">
                <a16:creationId xmlns:a16="http://schemas.microsoft.com/office/drawing/2014/main" id="{6F0BBBDA-B6DF-4B77-9B55-B94A05B30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251960"/>
            <a:ext cx="2468880" cy="384048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FFF">
              <a:alpha val="20000"/>
            </a:srgbClr>
          </a:solidFill>
        </p:spPr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914F1899-4E05-409A-BF68-46B607E51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251960"/>
            <a:ext cx="246888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0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나의 삶 전체</a:t>
            </a:r>
            <a:endParaRPr sz="1050"/>
          </a:p>
        </p:txBody>
      </p:sp>
      <p:sp>
        <p:nvSpPr>
          <p:cNvPr id="22" name="Text 20">
            <a:extLst xmlns:a="http://schemas.openxmlformats.org/drawingml/2006/main">
              <a:ext uri="{FF2B5EF4-FFF2-40B4-BE49-F238E27FC236}">
                <a16:creationId xmlns:a16="http://schemas.microsoft.com/office/drawing/2014/main" id="{B31051E6-9199-499F-AE93-CB6DC8B1B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4727448"/>
            <a:ext cx="475488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균형과 자율</a:t>
            </a:r>
            <a:endParaRPr sz="2000"/>
          </a:p>
        </p:txBody>
      </p:sp>
      <p:sp>
        <p:nvSpPr>
          <p:cNvPr id="23" name="Text 21">
            <a:extLst xmlns:a="http://schemas.openxmlformats.org/drawingml/2006/main">
              <a:ext uri="{FF2B5EF4-FFF2-40B4-BE49-F238E27FC236}">
                <a16:creationId xmlns:a16="http://schemas.microsoft.com/office/drawing/2014/main" id="{42DADD53-FDED-43C4-BFD6-44126F70E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7960" y="5184648"/>
            <a:ext cx="475488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8000"/>
              </a:lnSpc>
              <a:buNone/>
            </a:pPr>
            <a:r>
              <a:rPr sz="1250">
                <a:solidFill>
                  <a:srgbClr val="FFF3E0"/>
                </a:solidFill>
                <a:latin typeface="Calibri"/>
                <a:ea typeface="Calibri"/>
                <a:cs typeface="Calibri"/>
              </a:rPr>
              <a:t>일 바깥의 삶에 필요한 시간과 선택권을 함께 생각한다.</a:t>
            </a:r>
            <a:endParaRPr sz="1250"/>
          </a:p>
        </p:txBody>
      </p:sp>
      <p:sp>
        <p:nvSpPr>
          <p:cNvPr id="24" name="Text 22">
            <a:extLst xmlns:a="http://schemas.openxmlformats.org/drawingml/2006/main">
              <a:ext uri="{FF2B5EF4-FFF2-40B4-BE49-F238E27FC236}">
                <a16:creationId xmlns:a16="http://schemas.microsoft.com/office/drawing/2014/main" id="{4B430E7E-27A1-43D7-9B4B-04F2F7EDB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2장 · 왜 일하는가를 다시 묻는 시간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7853656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32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D04CFC36-DAAC-413A-B016-74EDE7C26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EDC47C"/>
                </a:solidFill>
                <a:latin typeface="Calibri"/>
                <a:ea typeface="Calibri"/>
                <a:cs typeface="Calibri"/>
              </a:rPr>
              <a:t>가치로 읽는 일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23E240F-70FD-450B-A8FE-04BED381E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지금 내게 중요한 네 가지</a:t>
            </a:r>
            <a:endParaRPr sz="32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22285122-041B-456D-9D22-6A246950E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57400"/>
            <a:ext cx="2606040" cy="283464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0A4A50"/>
          </a:solidFill>
          <a:ln xmlns:a="http://schemas.openxmlformats.org/drawingml/2006/main" w="12700">
            <a:solidFill>
              <a:srgbClr val="156158"/>
            </a:solidFill>
            <a:prstDash val="solid"/>
          </a:ln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1A7F9252-7C1F-4A51-95B6-6D4B0E24F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1720"/>
            <a:ext cx="233172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C07A10"/>
                </a:solidFill>
                <a:latin typeface="Century Schoolbook"/>
                <a:ea typeface="Century Schoolbook"/>
                <a:cs typeface="Century Schoolbook"/>
              </a:rPr>
              <a:t>생계</a:t>
            </a:r>
            <a:endParaRPr sz="40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8B2D1D9C-855C-4B6B-8A52-065823D26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20440"/>
            <a:ext cx="224028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3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생활을 지탱하는</a:t>
            </a:r>
            <a:endParaRPr sz="1300"/>
          </a:p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3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수입과 안정</a:t>
            </a:r>
            <a:endParaRPr sz="13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BAD369F2-E621-461B-A50D-F0BC50E2E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2057400"/>
            <a:ext cx="2606040" cy="283464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0A4A50"/>
          </a:solidFill>
          <a:ln xmlns:a="http://schemas.openxmlformats.org/drawingml/2006/main" w="12700">
            <a:solidFill>
              <a:srgbClr val="156158"/>
            </a:solidFill>
            <a:prstDash val="solid"/>
          </a:ln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87B1E57B-68E6-4F07-A08F-6C56DB4CBE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331720"/>
            <a:ext cx="233172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C07A10"/>
                </a:solidFill>
                <a:latin typeface="Century Schoolbook"/>
                <a:ea typeface="Century Schoolbook"/>
                <a:cs typeface="Century Schoolbook"/>
              </a:rPr>
              <a:t>성장</a:t>
            </a:r>
            <a:endParaRPr sz="40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F24BDC45-606A-4696-B9D5-EDBD49C5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6160" y="3520440"/>
            <a:ext cx="224028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3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배움과 역량의</a:t>
            </a:r>
            <a:endParaRPr sz="1300"/>
          </a:p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3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확장</a:t>
            </a:r>
            <a:endParaRPr sz="13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D5153638-5448-4A74-897A-744EFF3A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2057400"/>
            <a:ext cx="2606040" cy="283464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0A4A50"/>
          </a:solidFill>
          <a:ln xmlns:a="http://schemas.openxmlformats.org/drawingml/2006/main" w="12700">
            <a:solidFill>
              <a:srgbClr val="156158"/>
            </a:solidFill>
            <a:prstDash val="solid"/>
          </a:ln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46482E35-8B43-4C42-A59B-78BA26576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2331720"/>
            <a:ext cx="233172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C07A10"/>
                </a:solidFill>
                <a:latin typeface="Century Schoolbook"/>
                <a:ea typeface="Century Schoolbook"/>
                <a:cs typeface="Century Schoolbook"/>
              </a:rPr>
              <a:t>기여</a:t>
            </a:r>
            <a:endParaRPr sz="40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5BFBAF4C-3A1C-4B88-942E-DD293B7AC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520440"/>
            <a:ext cx="224028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3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타인에게 주는</a:t>
            </a:r>
            <a:endParaRPr sz="1300"/>
          </a:p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3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도움과 의미</a:t>
            </a:r>
            <a:endParaRPr sz="13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2F046CDA-0448-4D6F-80B9-441479CD3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2560" y="2057400"/>
            <a:ext cx="2606040" cy="2834640"/>
          </a:xfrm>
          <a:prstGeom xmlns:a="http://schemas.openxmlformats.org/drawingml/2006/main" prst="roundRect">
            <a:avLst>
              <a:gd name="adj" fmla="val 3509"/>
            </a:avLst>
          </a:prstGeom>
          <a:solidFill xmlns:a="http://schemas.openxmlformats.org/drawingml/2006/main">
            <a:srgbClr val="0A4A50"/>
          </a:solidFill>
          <a:ln xmlns:a="http://schemas.openxmlformats.org/drawingml/2006/main" w="12700">
            <a:solidFill>
              <a:srgbClr val="156158"/>
            </a:solidFill>
            <a:prstDash val="solid"/>
          </a:ln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B0F085A5-87F7-4BA9-B684-F0F9425E1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9720" y="2331720"/>
            <a:ext cx="2331720" cy="10515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4000" b="1">
                <a:solidFill>
                  <a:srgbClr val="C07A10"/>
                </a:solidFill>
                <a:latin typeface="Century Schoolbook"/>
                <a:ea typeface="Century Schoolbook"/>
                <a:cs typeface="Century Schoolbook"/>
              </a:rPr>
              <a:t>균형</a:t>
            </a:r>
            <a:endParaRPr sz="40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33A2FB15-5661-4EF3-B139-F0A7139C4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5440" y="3520440"/>
            <a:ext cx="2240280" cy="11887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3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시간·건강·관계의</a:t>
            </a:r>
            <a:endParaRPr sz="1300"/>
          </a:p>
          <a:p xmlns:a="http://schemas.openxmlformats.org/drawingml/2006/main">
            <a:pPr marL="0" indent="0" algn="ctr">
              <a:lnSpc>
                <a:spcPct val="125000"/>
              </a:lnSpc>
              <a:buNone/>
            </a:pPr>
            <a:r>
              <a:rPr sz="130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지속 가능성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5461BDA2-1B9F-41BE-84A9-1E1DD00F4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57800"/>
            <a:ext cx="110642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100">
                <a:solidFill>
                  <a:srgbClr val="8FA8A4"/>
                </a:solidFill>
                <a:latin typeface="Calibri"/>
                <a:ea typeface="Calibri"/>
                <a:cs typeface="Calibri"/>
              </a:rPr>
              <a:t>수업 안내: 네 가지 중 지금 가장 중요한 가치를 고르고, 1년 전과 달라진 이유를 적어본다.</a:t>
            </a:r>
            <a:endParaRPr sz="11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54F399B8-9C91-420B-B0ED-22BE09AE3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B9CDCA"/>
                </a:solidFill>
                <a:latin typeface="Calibri"/>
                <a:ea typeface="Calibri"/>
                <a:cs typeface="Calibri"/>
              </a:rPr>
              <a:t>2장 · 왜 일하는가를 다시 묻는 시간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9306750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95EDBC5E-F469-4595-9923-3CC971127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핵심 개념 3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951333CF-9A03-4678-AEC4-42861C9B2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000" b="1">
                <a:solidFill>
                  <a:srgbClr val="05353B"/>
                </a:solidFill>
                <a:latin typeface="Century Schoolbook"/>
                <a:ea typeface="Century Schoolbook"/>
                <a:cs typeface="Century Schoolbook"/>
              </a:rPr>
              <a:t>의미가 희미해지는 이유</a:t>
            </a:r>
            <a:endParaRPr sz="30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867BF620-93E3-4FDF-8C81-CEFB0B6C9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</p:sp>
      <p:pic>
        <p:nvPicPr>
          <p:cNvPr id="3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86fd86910a248c4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2376" y="1956816"/>
            <a:ext cx="402336" cy="402336"/>
          </a:xfrm>
          <a:prstGeom xmlns:a="http://schemas.openxmlformats.org/drawingml/2006/main" prst="rect">
            <a:avLst/>
          </a:prstGeom>
        </p:spPr>
      </p:pic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12800493-3553-4477-99C5-AF13B425D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1755648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업무가 목표를 가릴 때</a:t>
            </a:r>
            <a:endParaRPr sz="155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58837D00-811B-434B-8427-B8139A072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2130552"/>
            <a:ext cx="4480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2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처리할 일은 많지만 그 일이 향하는 곳은 보이지 않는다.</a:t>
            </a:r>
            <a:endParaRPr sz="12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D5EE6CF6-8881-4FAB-8BD7-78708BC51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783080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</p:sp>
      <p:pic>
        <p:nvPicPr>
          <p:cNvPr id="34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d17a2902af491d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91656" y="1956816"/>
            <a:ext cx="402336" cy="402336"/>
          </a:xfrm>
          <a:prstGeom xmlns:a="http://schemas.openxmlformats.org/drawingml/2006/main" prst="rect">
            <a:avLst/>
          </a:prstGeom>
        </p:spPr>
      </p:pic>
      <p:sp>
        <p:nvSpPr>
          <p:cNvPr id="10" name="Text 6">
            <a:extLst xmlns:a="http://schemas.openxmlformats.org/drawingml/2006/main">
              <a:ext uri="{FF2B5EF4-FFF2-40B4-BE49-F238E27FC236}">
                <a16:creationId xmlns:a16="http://schemas.microsoft.com/office/drawing/2014/main" id="{216E76EE-4101-403F-8AF1-256D2E616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755648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성장 감각이 멈출 때</a:t>
            </a:r>
            <a:endParaRPr sz="1550"/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DD472462-39B3-4F40-8B0A-45F9204E4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2130552"/>
            <a:ext cx="4480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2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익숙해진 능력이 더 이상 배움으로 느껴지지 않는다.</a:t>
            </a:r>
            <a:endParaRPr sz="1200"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F7B0F470-E26F-43D1-A43D-D220F05069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291840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</p:sp>
      <p:pic>
        <p:nvPicPr>
          <p:cNvPr id="38" name="Image 2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6e3948d11643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2376" y="3465576"/>
            <a:ext cx="402336" cy="402336"/>
          </a:xfrm>
          <a:prstGeom xmlns:a="http://schemas.openxmlformats.org/drawingml/2006/main" prst="rect">
            <a:avLst/>
          </a:prstGeom>
        </p:spPr>
      </p:pic>
      <p:sp>
        <p:nvSpPr>
          <p:cNvPr id="14" name="Text 9">
            <a:extLst xmlns:a="http://schemas.openxmlformats.org/drawingml/2006/main">
              <a:ext uri="{FF2B5EF4-FFF2-40B4-BE49-F238E27FC236}">
                <a16:creationId xmlns:a16="http://schemas.microsoft.com/office/drawing/2014/main" id="{836C3734-8E59-4321-81D1-66D906B4A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264408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내 가치가 바뀌었을 때</a:t>
            </a:r>
            <a:endParaRPr sz="1550"/>
          </a:p>
        </p:txBody>
      </p:sp>
      <p:sp>
        <p:nvSpPr>
          <p:cNvPr id="15" name="Text 10">
            <a:extLst xmlns:a="http://schemas.openxmlformats.org/drawingml/2006/main">
              <a:ext uri="{FF2B5EF4-FFF2-40B4-BE49-F238E27FC236}">
                <a16:creationId xmlns:a16="http://schemas.microsoft.com/office/drawing/2014/main" id="{80F0EDD0-35A1-4EF6-B1EC-433341FD3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3639312"/>
            <a:ext cx="4480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2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예전의 목표가 지금의 삶과 맞지 않을 수 있다.</a:t>
            </a:r>
            <a:endParaRPr sz="1200"/>
          </a:p>
        </p:txBody>
      </p:sp>
      <p:sp>
        <p:nvSpPr>
          <p:cNvPr id="16" name="Shape 11">
            <a:extLst xmlns:a="http://schemas.openxmlformats.org/drawingml/2006/main">
              <a:ext uri="{FF2B5EF4-FFF2-40B4-BE49-F238E27FC236}">
                <a16:creationId xmlns:a16="http://schemas.microsoft.com/office/drawing/2014/main" id="{C44CA1D1-B22F-4B40-A5F6-481470A1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3291840"/>
            <a:ext cx="749808" cy="749808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2F1"/>
          </a:solidFill>
        </p:spPr>
      </p:sp>
      <p:pic>
        <p:nvPicPr>
          <p:cNvPr id="42" name="Image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27b4f6b2a343f6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391656" y="3465576"/>
            <a:ext cx="402336" cy="402336"/>
          </a:xfrm>
          <a:prstGeom xmlns:a="http://schemas.openxmlformats.org/drawingml/2006/main" prst="rect">
            <a:avLst/>
          </a:prstGeom>
        </p:spPr>
      </p:pic>
      <p:sp>
        <p:nvSpPr>
          <p:cNvPr id="18" name="Text 12">
            <a:extLst xmlns:a="http://schemas.openxmlformats.org/drawingml/2006/main">
              <a:ext uri="{FF2B5EF4-FFF2-40B4-BE49-F238E27FC236}">
                <a16:creationId xmlns:a16="http://schemas.microsoft.com/office/drawing/2014/main" id="{7A13F6FE-3E5F-4E38-BD94-7D2DC7FE4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264408"/>
            <a:ext cx="4480560" cy="3840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55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선택권이 좁아졌을 때</a:t>
            </a:r>
            <a:endParaRPr sz="1550"/>
          </a:p>
        </p:txBody>
      </p:sp>
      <p:sp>
        <p:nvSpPr>
          <p:cNvPr id="19" name="Text 13">
            <a:extLst xmlns:a="http://schemas.openxmlformats.org/drawingml/2006/main">
              <a:ext uri="{FF2B5EF4-FFF2-40B4-BE49-F238E27FC236}">
                <a16:creationId xmlns:a16="http://schemas.microsoft.com/office/drawing/2014/main" id="{EC82AF32-161B-42CF-9D75-36146ADC0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3639312"/>
            <a:ext cx="448056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2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일하는 방식에 대한 통제감이 줄면 의미도 멀어진다.</a:t>
            </a:r>
            <a:endParaRPr sz="1200"/>
          </a:p>
        </p:txBody>
      </p:sp>
      <p:sp>
        <p:nvSpPr>
          <p:cNvPr id="20" name="Shape 14">
            <a:extLst xmlns:a="http://schemas.openxmlformats.org/drawingml/2006/main">
              <a:ext uri="{FF2B5EF4-FFF2-40B4-BE49-F238E27FC236}">
                <a16:creationId xmlns:a16="http://schemas.microsoft.com/office/drawing/2014/main" id="{2536EE1B-4206-4DA4-AED9-A99ADC8B4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3040" y="5074920"/>
            <a:ext cx="9235440" cy="777240"/>
          </a:xfrm>
          <a:prstGeom xmlns:a="http://schemas.openxmlformats.org/drawingml/2006/main" prst="roundRect">
            <a:avLst>
              <a:gd name="adj" fmla="val 14118"/>
            </a:avLst>
          </a:prstGeom>
          <a:solidFill xmlns:a="http://schemas.openxmlformats.org/drawingml/2006/main">
            <a:srgbClr val="C07A10"/>
          </a:solidFill>
        </p:spPr>
      </p:sp>
      <p:sp>
        <p:nvSpPr>
          <p:cNvPr id="21" name="Text 15">
            <a:extLst xmlns:a="http://schemas.openxmlformats.org/drawingml/2006/main">
              <a:ext uri="{FF2B5EF4-FFF2-40B4-BE49-F238E27FC236}">
                <a16:creationId xmlns:a16="http://schemas.microsoft.com/office/drawing/2014/main" id="{D10EAE21-3CF3-48C6-9530-B4180A00F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45920" y="5074920"/>
            <a:ext cx="886968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7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질문은 “그만둘까?”보다 “지금 내게 중요한 것은 무엇인가?”에서 시작한다.</a:t>
            </a:r>
            <a:endParaRPr sz="1700"/>
          </a:p>
        </p:txBody>
      </p:sp>
      <p:sp>
        <p:nvSpPr>
          <p:cNvPr id="22" name="Text 16">
            <a:extLst xmlns:a="http://schemas.openxmlformats.org/drawingml/2006/main">
              <a:ext uri="{FF2B5EF4-FFF2-40B4-BE49-F238E27FC236}">
                <a16:creationId xmlns:a16="http://schemas.microsoft.com/office/drawing/2014/main" id="{BF94397B-1A4D-4C10-8862-3ED9A9BA3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2장 · 왜 일하는가를 다시 묻는 시간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0115804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AF2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320B6DEC-28F1-4659-8D91-E3049B68E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수업 도구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284B7956-6A86-4170-91CC-C073711B5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105156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900" b="1">
                <a:solidFill>
                  <a:srgbClr val="05353B"/>
                </a:solidFill>
                <a:latin typeface="Century Schoolbook"/>
                <a:ea typeface="Century Schoolbook"/>
                <a:cs typeface="Century Schoolbook"/>
              </a:rPr>
              <a:t>나의 일의 이유 다시 쓰기</a:t>
            </a:r>
            <a:endParaRPr sz="29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A476CD4D-09E1-44C8-ACDA-F93B0AD9A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783080"/>
            <a:ext cx="5577840" cy="3246120"/>
          </a:xfrm>
          <a:prstGeom xmlns:a="http://schemas.openxmlformats.org/drawingml/2006/main" prst="roundRect">
            <a:avLst>
              <a:gd name="adj" fmla="val 2817"/>
            </a:avLst>
          </a:prstGeom>
          <a:solidFill xmlns:a="http://schemas.openxmlformats.org/drawingml/2006/main">
            <a:srgbClr val="FFFFFF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E3219154-303D-4DBD-92D5-B61266EAE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965960"/>
            <a:ext cx="493776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05353B"/>
                </a:solidFill>
                <a:latin typeface="Calibri"/>
                <a:ea typeface="Calibri"/>
                <a:cs typeface="Calibri"/>
              </a:rPr>
              <a:t>과거와 현재를 비교하는 4단계 기록</a:t>
            </a:r>
            <a:endParaRPr sz="1300"/>
          </a:p>
        </p:txBody>
      </p:sp>
      <p:sp>
        <p:nvSpPr>
          <p:cNvPr id="6" name="Shape 4">
            <a:extLst xmlns:a="http://schemas.openxmlformats.org/drawingml/2006/main">
              <a:ext uri="{FF2B5EF4-FFF2-40B4-BE49-F238E27FC236}">
                <a16:creationId xmlns:a16="http://schemas.microsoft.com/office/drawing/2014/main" id="{49930E6F-12F4-4FE2-B415-9CD97B7C9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487168"/>
            <a:ext cx="493776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2F1"/>
          </a:solidFill>
        </p:spPr>
      </p:sp>
      <p:sp>
        <p:nvSpPr>
          <p:cNvPr id="7" name="Text 5">
            <a:extLst xmlns:a="http://schemas.openxmlformats.org/drawingml/2006/main">
              <a:ext uri="{FF2B5EF4-FFF2-40B4-BE49-F238E27FC236}">
                <a16:creationId xmlns:a16="http://schemas.microsoft.com/office/drawing/2014/main" id="{04F3AD51-E99E-4942-9C63-99C8FC74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2487168"/>
            <a:ext cx="44805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20292B"/>
                </a:solidFill>
                <a:latin typeface="Calibri"/>
                <a:ea typeface="Calibri"/>
                <a:cs typeface="Calibri"/>
              </a:rPr>
              <a:t>처음 시작한 이유</a:t>
            </a:r>
            <a:endParaRPr sz="1350"/>
          </a:p>
        </p:txBody>
      </p:sp>
      <p:sp>
        <p:nvSpPr>
          <p:cNvPr id="8" name="Shape 6">
            <a:extLst xmlns:a="http://schemas.openxmlformats.org/drawingml/2006/main">
              <a:ext uri="{FF2B5EF4-FFF2-40B4-BE49-F238E27FC236}">
                <a16:creationId xmlns:a16="http://schemas.microsoft.com/office/drawing/2014/main" id="{C6FD8764-F523-41D2-97EB-F2CE0F4F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127248"/>
            <a:ext cx="493776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2F1"/>
          </a:solidFill>
        </p:spPr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A318DF9C-9B07-4DD9-B7C3-14A828C7B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127248"/>
            <a:ext cx="44805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20292B"/>
                </a:solidFill>
                <a:latin typeface="Calibri"/>
                <a:ea typeface="Calibri"/>
                <a:cs typeface="Calibri"/>
              </a:rPr>
              <a:t>지금 계속하는 이유</a:t>
            </a:r>
            <a:endParaRPr sz="135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F8B2E5DB-ACC0-4FE7-8307-B850F4195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767328"/>
            <a:ext cx="493776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2F1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82F784F6-758C-4C14-A4BB-8A7C2AC14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3767328"/>
            <a:ext cx="44805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20292B"/>
                </a:solidFill>
                <a:latin typeface="Calibri"/>
                <a:ea typeface="Calibri"/>
                <a:cs typeface="Calibri"/>
              </a:rPr>
              <a:t>에너지가 살아나는 순간</a:t>
            </a:r>
            <a:endParaRPr sz="1350"/>
          </a:p>
        </p:txBody>
      </p:sp>
      <p:sp>
        <p:nvSpPr>
          <p:cNvPr id="12" name="Shape 10">
            <a:extLst xmlns:a="http://schemas.openxmlformats.org/drawingml/2006/main">
              <a:ext uri="{FF2B5EF4-FFF2-40B4-BE49-F238E27FC236}">
                <a16:creationId xmlns:a16="http://schemas.microsoft.com/office/drawing/2014/main" id="{FBACA021-E0C5-441F-B5FD-D49A11F2B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407408"/>
            <a:ext cx="4937760" cy="530352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2F1"/>
          </a:solidFill>
        </p:spPr>
      </p:sp>
      <p:sp>
        <p:nvSpPr>
          <p:cNvPr id="13" name="Text 11">
            <a:extLst xmlns:a="http://schemas.openxmlformats.org/drawingml/2006/main">
              <a:ext uri="{FF2B5EF4-FFF2-40B4-BE49-F238E27FC236}">
                <a16:creationId xmlns:a16="http://schemas.microsoft.com/office/drawing/2014/main" id="{1D355266-9351-47F2-A07B-E85F08FA5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" y="4407408"/>
            <a:ext cx="4480560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>
                <a:solidFill>
                  <a:srgbClr val="20292B"/>
                </a:solidFill>
                <a:latin typeface="Calibri"/>
                <a:ea typeface="Calibri"/>
                <a:cs typeface="Calibri"/>
              </a:rPr>
              <a:t>바꾸고 싶은 한 가지</a:t>
            </a:r>
            <a:endParaRPr sz="1350"/>
          </a:p>
        </p:txBody>
      </p:sp>
      <p:sp>
        <p:nvSpPr>
          <p:cNvPr id="14" name="Shape 12">
            <a:extLst xmlns:a="http://schemas.openxmlformats.org/drawingml/2006/main">
              <a:ext uri="{FF2B5EF4-FFF2-40B4-BE49-F238E27FC236}">
                <a16:creationId xmlns:a16="http://schemas.microsoft.com/office/drawing/2014/main" id="{3E682B75-9555-4E32-BECA-664F255A8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1783080"/>
            <a:ext cx="5257800" cy="3246120"/>
          </a:xfrm>
          <a:prstGeom xmlns:a="http://schemas.openxmlformats.org/drawingml/2006/main" prst="roundRect">
            <a:avLst>
              <a:gd name="adj" fmla="val 2817"/>
            </a:avLst>
          </a:prstGeom>
          <a:solidFill xmlns:a="http://schemas.openxmlformats.org/drawingml/2006/main">
            <a:srgbClr val="05353B"/>
          </a:solidFill>
        </p:spPr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6E4BA188-BC57-458C-969C-464E29580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1965960"/>
            <a:ext cx="466344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C07A10"/>
                </a:solidFill>
                <a:latin typeface="Calibri"/>
                <a:ea typeface="Calibri"/>
                <a:cs typeface="Calibri"/>
              </a:rPr>
              <a:t>기록 후 살펴보기</a:t>
            </a:r>
            <a:endParaRPr sz="1300"/>
          </a:p>
        </p:txBody>
      </p:sp>
      <p:sp>
        <p:nvSpPr>
          <p:cNvPr id="16" name="Text 14">
            <a:extLst xmlns:a="http://schemas.openxmlformats.org/drawingml/2006/main">
              <a:ext uri="{FF2B5EF4-FFF2-40B4-BE49-F238E27FC236}">
                <a16:creationId xmlns:a16="http://schemas.microsoft.com/office/drawing/2014/main" id="{02345465-C1DD-47E3-9471-AAFA6A5FA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450592"/>
            <a:ext cx="137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같은 점</a:t>
            </a:r>
            <a:endParaRPr sz="1600"/>
          </a:p>
        </p:txBody>
      </p:sp>
      <p:sp>
        <p:nvSpPr>
          <p:cNvPr id="17" name="Text 15">
            <a:extLst xmlns:a="http://schemas.openxmlformats.org/drawingml/2006/main">
              <a:ext uri="{FF2B5EF4-FFF2-40B4-BE49-F238E27FC236}">
                <a16:creationId xmlns:a16="http://schemas.microsoft.com/office/drawing/2014/main" id="{7A07C550-DEF6-41E9-94B4-B07F359BA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487168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계속 지키고 싶은 가치</a:t>
            </a:r>
            <a:endParaRPr sz="1250"/>
          </a:p>
        </p:txBody>
      </p:sp>
      <p:sp>
        <p:nvSpPr>
          <p:cNvPr id="18" name="Text 16">
            <a:extLst xmlns:a="http://schemas.openxmlformats.org/drawingml/2006/main">
              <a:ext uri="{FF2B5EF4-FFF2-40B4-BE49-F238E27FC236}">
                <a16:creationId xmlns:a16="http://schemas.microsoft.com/office/drawing/2014/main" id="{178736CF-F74A-45A6-9D46-3A135500D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227832"/>
            <a:ext cx="137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달라진 점</a:t>
            </a:r>
            <a:endParaRPr sz="1600"/>
          </a:p>
        </p:txBody>
      </p:sp>
      <p:sp>
        <p:nvSpPr>
          <p:cNvPr id="19" name="Text 17">
            <a:extLst xmlns:a="http://schemas.openxmlformats.org/drawingml/2006/main">
              <a:ext uri="{FF2B5EF4-FFF2-40B4-BE49-F238E27FC236}">
                <a16:creationId xmlns:a16="http://schemas.microsoft.com/office/drawing/2014/main" id="{DA50DE7F-48F3-4D10-8A85-1C81EDA2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64408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새롭게 중요해진 가치</a:t>
            </a:r>
            <a:endParaRPr sz="1250"/>
          </a:p>
        </p:txBody>
      </p:sp>
      <p:sp>
        <p:nvSpPr>
          <p:cNvPr id="20" name="Text 18">
            <a:extLst xmlns:a="http://schemas.openxmlformats.org/drawingml/2006/main">
              <a:ext uri="{FF2B5EF4-FFF2-40B4-BE49-F238E27FC236}">
                <a16:creationId xmlns:a16="http://schemas.microsoft.com/office/drawing/2014/main" id="{DE61BD28-6764-4F12-AC72-436EDB9E34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4005072"/>
            <a:ext cx="13716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6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작은 실험</a:t>
            </a:r>
            <a:endParaRPr sz="1600"/>
          </a:p>
        </p:txBody>
      </p:sp>
      <p:sp>
        <p:nvSpPr>
          <p:cNvPr id="21" name="Text 19">
            <a:extLst xmlns:a="http://schemas.openxmlformats.org/drawingml/2006/main">
              <a:ext uri="{FF2B5EF4-FFF2-40B4-BE49-F238E27FC236}">
                <a16:creationId xmlns:a16="http://schemas.microsoft.com/office/drawing/2014/main" id="{52D097A3-85F3-49E5-BED7-A130F2B06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041648"/>
            <a:ext cx="342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50">
                <a:solidFill>
                  <a:srgbClr val="D9E7E5"/>
                </a:solidFill>
                <a:latin typeface="Calibri"/>
                <a:ea typeface="Calibri"/>
                <a:cs typeface="Calibri"/>
              </a:rPr>
              <a:t>이번 주에 해볼 행동</a:t>
            </a:r>
            <a:endParaRPr sz="1250"/>
          </a:p>
        </p:txBody>
      </p:sp>
      <p:sp>
        <p:nvSpPr>
          <p:cNvPr id="22" name="Shape 20">
            <a:extLst xmlns:a="http://schemas.openxmlformats.org/drawingml/2006/main">
              <a:ext uri="{FF2B5EF4-FFF2-40B4-BE49-F238E27FC236}">
                <a16:creationId xmlns:a16="http://schemas.microsoft.com/office/drawing/2014/main" id="{576C885F-A147-418B-89F0-CCBBC83D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5257800"/>
            <a:ext cx="11064240" cy="86868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07A10"/>
            </a:solidFill>
            <a:prstDash val="solid"/>
          </a:ln>
        </p:spPr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377cdec6f46a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77240" y="5468112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D61A3C3C-0C9F-46A5-AC1B-4F7B60631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5257800"/>
            <a:ext cx="9966960" cy="8686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50" i="1">
                <a:solidFill>
                  <a:srgbClr val="20292B"/>
                </a:solidFill>
                <a:latin typeface="Calibri"/>
                <a:ea typeface="Calibri"/>
                <a:cs typeface="Calibri"/>
              </a:rPr>
              <a:t>강의 활용: 각자 두 문장을 쓴 뒤, 달라진 가치를 짝과 나누고 작은 실험을 하나 정한다.</a:t>
            </a:r>
            <a:endParaRPr sz="1350"/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9868BB2F-DF98-4DF3-89A9-5E78B1A9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687477"/>
                </a:solidFill>
                <a:latin typeface="Calibri"/>
                <a:ea typeface="Calibri"/>
                <a:cs typeface="Calibri"/>
              </a:rPr>
              <a:t>2장 · 왜 일하는가를 다시 묻는 시간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156754964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535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3de2a862e14e0e">
            <a:alphaModFix amt="22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9418320" y="502920"/>
            <a:ext cx="1737360" cy="1737360"/>
          </a:xfrm>
          <a:prstGeom xmlns:a="http://schemas.openxmlformats.org/drawingml/2006/main" prst="rect">
            <a:avLst/>
          </a:prstGeom>
        </p:spPr>
      </p:pic>
      <p:sp>
        <p:nvSpPr>
          <p:cNvPr id="3" name="Text 0">
            <a:extLst xmlns:a="http://schemas.openxmlformats.org/drawingml/2006/main">
              <a:ext uri="{FF2B5EF4-FFF2-40B4-BE49-F238E27FC236}">
                <a16:creationId xmlns:a16="http://schemas.microsoft.com/office/drawing/2014/main" id="{CACF8C43-C430-41C0-AB9E-610D8FFD6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EDC47C"/>
                </a:solidFill>
                <a:latin typeface="Calibri"/>
                <a:ea typeface="Calibri"/>
                <a:cs typeface="Calibri"/>
              </a:rPr>
              <a:t>토론 &amp; 활동</a:t>
            </a:r>
            <a:endParaRPr sz="1200"/>
          </a:p>
        </p:txBody>
      </p:sp>
      <p:sp>
        <p:nvSpPr>
          <p:cNvPr id="4" name="Text 1">
            <a:extLst xmlns:a="http://schemas.openxmlformats.org/drawingml/2006/main">
              <a:ext uri="{FF2B5EF4-FFF2-40B4-BE49-F238E27FC236}">
                <a16:creationId xmlns:a16="http://schemas.microsoft.com/office/drawing/2014/main" id="{E6E63861-DD27-4510-B97D-55102AC0E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91440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토론 질문 &amp; 수업 활동</a:t>
            </a:r>
            <a:endParaRPr sz="3200"/>
          </a:p>
        </p:txBody>
      </p:sp>
      <p:sp>
        <p:nvSpPr>
          <p:cNvPr id="5" name="Shape 2">
            <a:extLst xmlns:a="http://schemas.openxmlformats.org/drawingml/2006/main">
              <a:ext uri="{FF2B5EF4-FFF2-40B4-BE49-F238E27FC236}">
                <a16:creationId xmlns:a16="http://schemas.microsoft.com/office/drawing/2014/main" id="{18952B68-94DB-4C15-8078-599CC7AC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7A10"/>
          </a:solidFill>
        </p:spPr>
      </p:sp>
      <p:sp>
        <p:nvSpPr>
          <p:cNvPr id="6" name="Text 3">
            <a:extLst xmlns:a="http://schemas.openxmlformats.org/drawingml/2006/main">
              <a:ext uri="{FF2B5EF4-FFF2-40B4-BE49-F238E27FC236}">
                <a16:creationId xmlns:a16="http://schemas.microsoft.com/office/drawing/2014/main" id="{5D653BB3-1124-4C06-8783-3848191819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965960"/>
            <a:ext cx="59436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2000"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351F8620-EC59-44EB-9FC4-66B2F35F7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1874520"/>
            <a:ext cx="9966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일을 시작할 때 가장 중요했던 가치와 지금 가장 중요한 가치는 무엇인가?</a:t>
            </a:r>
            <a:endParaRPr sz="1700"/>
          </a:p>
        </p:txBody>
      </p:sp>
      <p:sp>
        <p:nvSpPr>
          <p:cNvPr id="8" name="Shape 5">
            <a:extLst xmlns:a="http://schemas.openxmlformats.org/drawingml/2006/main">
              <a:ext uri="{FF2B5EF4-FFF2-40B4-BE49-F238E27FC236}">
                <a16:creationId xmlns:a16="http://schemas.microsoft.com/office/drawing/2014/main" id="{8C7F96FD-F01F-4877-84AA-03212554A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26080"/>
            <a:ext cx="594360" cy="59436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7A10"/>
          </a:solidFill>
        </p:spPr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4D01168E-CB73-4AA3-8C0C-B2DD9B524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926080"/>
            <a:ext cx="594360" cy="594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2000"/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C7D9FAB-C9B3-40F7-8EFC-980005DA7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7320" y="2834640"/>
            <a:ext cx="9966960" cy="7772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15000"/>
              </a:lnSpc>
              <a:buNone/>
            </a:pPr>
            <a:r>
              <a:rPr sz="170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그 가치가 현재의 일에서 충족되는 순간은 언제인가?</a:t>
            </a:r>
            <a:endParaRPr sz="1700"/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F0074F45-0448-401F-A348-AFA6424AA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60520"/>
            <a:ext cx="11064240" cy="178308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C07A10"/>
          </a:solidFill>
        </p:spPr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E047692-A335-4F03-8872-E5610B47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9120"/>
            <a:ext cx="1033272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300" b="1">
                <a:solidFill>
                  <a:srgbClr val="FFE9C7"/>
                </a:solidFill>
                <a:latin typeface="Calibri"/>
                <a:ea typeface="Calibri"/>
                <a:cs typeface="Calibri"/>
              </a:rPr>
              <a:t>활동 · 두 문장 쓰기</a:t>
            </a:r>
            <a:endParaRPr sz="1300"/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27F6BE8B-CFCD-47B2-8185-4F62F82E7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54880"/>
            <a:ext cx="10332720" cy="10058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9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“나는 이 일을 시작했다. 왜냐하면 ___.”</a:t>
            </a:r>
            <a:endParaRPr sz="1900"/>
          </a:p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9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“나는 지금 이 일을 계속한다. 왜냐하면 ___.”</a:t>
            </a:r>
            <a:endParaRPr sz="1900"/>
          </a:p>
          <a:p xmlns:a="http://schemas.openxmlformats.org/drawingml/2006/main">
            <a:pPr marL="0" indent="0">
              <a:lnSpc>
                <a:spcPct val="125000"/>
              </a:lnSpc>
              <a:buNone/>
            </a:pPr>
            <a:r>
              <a:rPr sz="19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두 문장 사이에서 달라진 점을 표시한다.</a:t>
            </a:r>
            <a:endParaRPr sz="1900"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AB6B2263-C468-4729-AFC8-FB435FFC9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355080"/>
            <a:ext cx="7315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000">
                <a:solidFill>
                  <a:srgbClr val="B9CDCA"/>
                </a:solidFill>
                <a:latin typeface="Calibri"/>
                <a:ea typeface="Calibri"/>
                <a:cs typeface="Calibri"/>
              </a:rPr>
              <a:t>2장 · 왜 일하는가를 다시 묻는 시간</a:t>
            </a:r>
            <a:endParaRPr sz="1000"/>
          </a:p>
        </p:txBody>
      </p:sp>
    </p:spTree>
    <p:extLst>
      <p:ext uri="{BB962C8B-B14F-4D97-AF65-F5344CB8AC3E}">
        <p14:creationId xmlns:p14="http://schemas.microsoft.com/office/powerpoint/2010/main" val="206640542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32B3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 0">
            <a:extLst xmlns:a="http://schemas.openxmlformats.org/drawingml/2006/main">
              <a:ext uri="{FF2B5EF4-FFF2-40B4-BE49-F238E27FC236}">
                <a16:creationId xmlns:a16="http://schemas.microsoft.com/office/drawing/2014/main" id="{C39DB6FC-E44E-4FC6-A647-353FD5CF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11480"/>
            <a:ext cx="731520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 spc="200">
                <a:solidFill>
                  <a:srgbClr val="EDC47C"/>
                </a:solidFill>
                <a:latin typeface="Calibri"/>
                <a:ea typeface="Calibri"/>
                <a:cs typeface="Calibri"/>
              </a:rPr>
              <a:t>오늘의 핵심 정리</a:t>
            </a:r>
            <a:endParaRPr sz="1200"/>
          </a:p>
        </p:txBody>
      </p:sp>
      <p:sp>
        <p:nvSpPr>
          <p:cNvPr id="3" name="Text 1">
            <a:extLst xmlns:a="http://schemas.openxmlformats.org/drawingml/2006/main">
              <a:ext uri="{FF2B5EF4-FFF2-40B4-BE49-F238E27FC236}">
                <a16:creationId xmlns:a16="http://schemas.microsoft.com/office/drawing/2014/main" id="{88D041AA-250F-434F-849F-B26809CDE0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777240"/>
            <a:ext cx="914400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34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2장 요약</a:t>
            </a:r>
            <a:endParaRPr sz="3400"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735F4CD-743A-4F74-BBE3-524BB6DA0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11680"/>
            <a:ext cx="411480" cy="411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7A10"/>
          </a:solidFill>
        </p:spPr>
      </p:sp>
      <p:sp>
        <p:nvSpPr>
          <p:cNvPr id="5" name="Text 3">
            <a:extLst xmlns:a="http://schemas.openxmlformats.org/drawingml/2006/main">
              <a:ext uri="{FF2B5EF4-FFF2-40B4-BE49-F238E27FC236}">
                <a16:creationId xmlns:a16="http://schemas.microsoft.com/office/drawing/2014/main" id="{A104A6CE-1DF7-46D6-8EBC-F151B1C17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011680"/>
            <a:ext cx="411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</a:t>
            </a:r>
            <a:endParaRPr sz="1500"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305DF84D-FE16-42DC-B538-1961A349E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1965960"/>
            <a:ext cx="10058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E8F0EE"/>
                </a:solidFill>
                <a:latin typeface="Calibri"/>
                <a:ea typeface="Calibri"/>
                <a:cs typeface="Calibri"/>
              </a:rPr>
              <a:t>일의 의미가 달라졌다면, 먼저 지금 중요해진 가치를 살펴본다.</a:t>
            </a:r>
            <a:endParaRPr sz="1700"/>
          </a:p>
        </p:txBody>
      </p:sp>
      <p:sp>
        <p:nvSpPr>
          <p:cNvPr id="7" name="Shape 5">
            <a:extLst xmlns:a="http://schemas.openxmlformats.org/drawingml/2006/main">
              <a:ext uri="{FF2B5EF4-FFF2-40B4-BE49-F238E27FC236}">
                <a16:creationId xmlns:a16="http://schemas.microsoft.com/office/drawing/2014/main" id="{711862C0-8A4F-47E3-986D-AB6EFD790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8920"/>
            <a:ext cx="411480" cy="411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7A10"/>
          </a:solidFill>
        </p:spPr>
      </p:sp>
      <p:sp>
        <p:nvSpPr>
          <p:cNvPr id="8" name="Text 6">
            <a:extLst xmlns:a="http://schemas.openxmlformats.org/drawingml/2006/main">
              <a:ext uri="{FF2B5EF4-FFF2-40B4-BE49-F238E27FC236}">
                <a16:creationId xmlns:a16="http://schemas.microsoft.com/office/drawing/2014/main" id="{4CCB09B8-40E4-4481-885B-EDB21A55F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2788920"/>
            <a:ext cx="411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</a:t>
            </a:r>
            <a:endParaRPr sz="1500"/>
          </a:p>
        </p:txBody>
      </p:sp>
      <p:sp>
        <p:nvSpPr>
          <p:cNvPr id="9" name="Text 7">
            <a:extLst xmlns:a="http://schemas.openxmlformats.org/drawingml/2006/main">
              <a:ext uri="{FF2B5EF4-FFF2-40B4-BE49-F238E27FC236}">
                <a16:creationId xmlns:a16="http://schemas.microsoft.com/office/drawing/2014/main" id="{6F7712F6-B444-4A2B-A804-5714299A7D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2743200"/>
            <a:ext cx="10058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E8F0EE"/>
                </a:solidFill>
                <a:latin typeface="Calibri"/>
                <a:ea typeface="Calibri"/>
                <a:cs typeface="Calibri"/>
              </a:rPr>
              <a:t>생계·성장·소명은 우열이 아니라 일을 바라보는 서로 다른 관점이다.</a:t>
            </a:r>
            <a:endParaRPr sz="1700"/>
          </a:p>
        </p:txBody>
      </p:sp>
      <p:sp>
        <p:nvSpPr>
          <p:cNvPr id="10" name="Shape 8">
            <a:extLst xmlns:a="http://schemas.openxmlformats.org/drawingml/2006/main">
              <a:ext uri="{FF2B5EF4-FFF2-40B4-BE49-F238E27FC236}">
                <a16:creationId xmlns:a16="http://schemas.microsoft.com/office/drawing/2014/main" id="{994807AB-C7F9-49EA-933A-F451C45F6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66160"/>
            <a:ext cx="411480" cy="41148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07A10"/>
          </a:solidFill>
        </p:spPr>
      </p:sp>
      <p:sp>
        <p:nvSpPr>
          <p:cNvPr id="11" name="Text 9">
            <a:extLst xmlns:a="http://schemas.openxmlformats.org/drawingml/2006/main">
              <a:ext uri="{FF2B5EF4-FFF2-40B4-BE49-F238E27FC236}">
                <a16:creationId xmlns:a16="http://schemas.microsoft.com/office/drawing/2014/main" id="{E497243D-8973-4EE7-8CFC-456120EE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3566160"/>
            <a:ext cx="411480" cy="4114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 algn="ctr">
              <a:buNone/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</a:t>
            </a:r>
            <a:endParaRPr sz="1500"/>
          </a:p>
        </p:txBody>
      </p:sp>
      <p:sp>
        <p:nvSpPr>
          <p:cNvPr id="12" name="Text 10">
            <a:extLst xmlns:a="http://schemas.openxmlformats.org/drawingml/2006/main">
              <a:ext uri="{FF2B5EF4-FFF2-40B4-BE49-F238E27FC236}">
                <a16:creationId xmlns:a16="http://schemas.microsoft.com/office/drawing/2014/main" id="{93DF086C-8C46-45B4-B3CB-F712F8179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8720" y="3520440"/>
            <a:ext cx="100584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700">
                <a:solidFill>
                  <a:srgbClr val="E8F0EE"/>
                </a:solidFill>
                <a:latin typeface="Calibri"/>
                <a:ea typeface="Calibri"/>
                <a:cs typeface="Calibri"/>
              </a:rPr>
              <a:t>큰 결론보다 작은 실험으로 일과의 관계를 다시 연결한다.</a:t>
            </a:r>
            <a:endParaRPr sz="1700"/>
          </a:p>
        </p:txBody>
      </p:sp>
      <p:sp>
        <p:nvSpPr>
          <p:cNvPr id="13" name="Shape 11">
            <a:extLst xmlns:a="http://schemas.openxmlformats.org/drawingml/2006/main">
              <a:ext uri="{FF2B5EF4-FFF2-40B4-BE49-F238E27FC236}">
                <a16:creationId xmlns:a16="http://schemas.microsoft.com/office/drawing/2014/main" id="{9710A7B4-5349-429D-B088-FEC1EBEEF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4663440"/>
            <a:ext cx="7498080" cy="1051560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C07A10"/>
          </a:solidFill>
        </p:spPr>
      </p:sp>
      <p:sp>
        <p:nvSpPr>
          <p:cNvPr id="14" name="Text 12">
            <a:extLst xmlns:a="http://schemas.openxmlformats.org/drawingml/2006/main">
              <a:ext uri="{FF2B5EF4-FFF2-40B4-BE49-F238E27FC236}">
                <a16:creationId xmlns:a16="http://schemas.microsoft.com/office/drawing/2014/main" id="{95B44A0D-85EB-44EA-A09D-BD3EB84980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846320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1200" b="1">
                <a:solidFill>
                  <a:srgbClr val="FFE9C7"/>
                </a:solidFill>
                <a:latin typeface="Calibri"/>
                <a:ea typeface="Calibri"/>
                <a:cs typeface="Calibri"/>
              </a:rPr>
              <a:t>다음 시간</a:t>
            </a:r>
            <a:endParaRPr sz="1200"/>
          </a:p>
        </p:txBody>
      </p:sp>
      <p:sp>
        <p:nvSpPr>
          <p:cNvPr id="15" name="Text 13">
            <a:extLst xmlns:a="http://schemas.openxmlformats.org/drawingml/2006/main">
              <a:ext uri="{FF2B5EF4-FFF2-40B4-BE49-F238E27FC236}">
                <a16:creationId xmlns:a16="http://schemas.microsoft.com/office/drawing/2014/main" id="{F3A3CF52-E327-40CB-A6F4-17F963588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120640"/>
            <a:ext cx="685800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rPr sz="2200" b="1">
                <a:solidFill>
                  <a:srgbClr val="FFFFFF"/>
                </a:solidFill>
                <a:latin typeface="Century Schoolbook"/>
                <a:ea typeface="Century Schoolbook"/>
                <a:cs typeface="Century Schoolbook"/>
              </a:rPr>
              <a:t>3장. 우연기술 다시 보기</a:t>
            </a:r>
            <a:endParaRPr sz="2200"/>
          </a:p>
        </p:txBody>
      </p:sp>
      <p:pic>
        <p:nvPicPr>
          <p:cNvPr id="33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37cbe9a2f2445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452360" y="5074920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E410D7C-4350-4644-B57E-85CF35BF9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080760"/>
            <a:ext cx="731520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/>
          <a:lstStyle xmlns:a="http://schemas.openxmlformats.org/drawingml/2006/main"/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00">
                <a:solidFill>
                  <a:srgbClr val="8FA8A4"/>
                </a:solidFill>
                <a:latin typeface="Calibri"/>
                <a:ea typeface="Calibri"/>
                <a:cs typeface="Calibri"/>
              </a:rPr>
              <a:t>이승원 | LEE SEUNG WON · Career Transition Lab</a:t>
            </a:r>
            <a:endParaRPr sz="1100"/>
          </a:p>
          <a:p xmlns:a="http://schemas.openxmlformats.org/drawingml/2006/main">
            <a:pPr marL="0" indent="0">
              <a:lnSpc>
                <a:spcPct val="120000"/>
              </a:lnSpc>
              <a:buNone/>
            </a:pPr>
            <a:r>
              <a:rPr sz="1100">
                <a:solidFill>
                  <a:srgbClr val="8FA8A4"/>
                </a:solidFill>
                <a:latin typeface="Calibri"/>
                <a:ea typeface="Calibri"/>
                <a:cs typeface="Calibri"/>
              </a:rPr>
              <a:t>강의자료 문의: lswon@hansung.ac.kr</a:t>
            </a:r>
            <a:endParaRPr sz="1100"/>
          </a:p>
        </p:txBody>
      </p:sp>
    </p:spTree>
    <p:extLst>
      <p:ext uri="{BB962C8B-B14F-4D97-AF65-F5344CB8AC3E}">
        <p14:creationId xmlns:p14="http://schemas.microsoft.com/office/powerpoint/2010/main" val="543310860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Slides>0</ap:Slides>
  <ap:Notes>0</ap:Notes>
  <ap:HiddenSlides>0</ap:HiddenSlides>
  <ap:SharedDoc>false</ap:SharedDoc>
  <ap:DocSecurity>0</ap:DocSecurity>
  <ap:Company>Career Transition Lab by Lee Seung Won</ap:Compan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이승원</dc:creator>
  <lastModifiedBy>이승원</lastModifiedBy>
  <dc:title>번아웃 이후, 다시 그리는 커리어 · 2장 왜 일하는가를 다시 묻는 시간</dc:title>
  <dcterms:created xsi:type="dcterms:W3CDTF">2026-09-22T07:59:38.6980000Z</dcterms:created>
  <dcterms:modified xsi:type="dcterms:W3CDTF">2026-09-22T07:59:38.6980000Z</dcterms:modified>
</coreProperties>
</file>
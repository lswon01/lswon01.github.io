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46e846bad84988" /><Relationship Type="http://schemas.openxmlformats.org/officeDocument/2006/relationships/extended-properties" Target="/docProps/app.xml" Id="Rcacdd4b3fa9f43e1" /><Relationship Type="http://schemas.openxmlformats.org/officeDocument/2006/relationships/officeDocument" Target="/ppt/presentation.xml" Id="R20bddc6bec7b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dd4722fa1a47a0"/>
  </p:sldMasterIdLst>
  <p:notesMasterIdLst>
    <p:notesMasterId xmlns:r="http://schemas.openxmlformats.org/officeDocument/2006/relationships" r:id="R20398ed5a1514a18"/>
  </p:notesMasterIdLst>
  <p:sldIdLst>
    <p:sldId xmlns:r="http://schemas.openxmlformats.org/officeDocument/2006/relationships" id="256" r:id="Rc0a5299ff2794177"/>
    <p:sldId xmlns:r="http://schemas.openxmlformats.org/officeDocument/2006/relationships" id="257" r:id="Rfdcb1c3d51b745cc"/>
    <p:sldId xmlns:r="http://schemas.openxmlformats.org/officeDocument/2006/relationships" id="258" r:id="Raf349b98a8ce41c6"/>
    <p:sldId xmlns:r="http://schemas.openxmlformats.org/officeDocument/2006/relationships" id="259" r:id="R1e79bff4e2e74493"/>
    <p:sldId xmlns:r="http://schemas.openxmlformats.org/officeDocument/2006/relationships" id="260" r:id="R4b4047e3f3bb4a60"/>
    <p:sldId xmlns:r="http://schemas.openxmlformats.org/officeDocument/2006/relationships" id="261" r:id="R0423dbf380c245de"/>
    <p:sldId xmlns:r="http://schemas.openxmlformats.org/officeDocument/2006/relationships" id="262" r:id="Rfeb93bee471640fe"/>
    <p:sldId xmlns:r="http://schemas.openxmlformats.org/officeDocument/2006/relationships" id="263" r:id="R0474f84c4f014bd6"/>
    <p:sldId xmlns:r="http://schemas.openxmlformats.org/officeDocument/2006/relationships" id="264" r:id="Rb4a1947829774fb2"/>
    <p:sldId xmlns:r="http://schemas.openxmlformats.org/officeDocument/2006/relationships" id="265" r:id="R6f196dc875d6475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b3dd3295c461e" /><Relationship Type="http://schemas.openxmlformats.org/officeDocument/2006/relationships/slideMaster" Target="/ppt/slideMasters/slideMaster1.xml" Id="R4cdd4722fa1a47a0" /><Relationship Type="http://schemas.openxmlformats.org/officeDocument/2006/relationships/notesMaster" Target="/ppt/notesMasters/notesMaster1.xml" Id="R20398ed5a1514a18" /><Relationship Type="http://schemas.openxmlformats.org/officeDocument/2006/relationships/presProps" Target="/ppt/presProps.xml" Id="Rd5b76d55ad134b1d" /><Relationship Type="http://schemas.openxmlformats.org/officeDocument/2006/relationships/viewProps" Target="/ppt/viewProps.xml" Id="Red109daf720d4e1e" /><Relationship Type="http://schemas.openxmlformats.org/officeDocument/2006/relationships/tableStyles" Target="/ppt/tableStyles.xml" Id="Rf20aacd6fe8f40df" /><Relationship Type="http://schemas.openxmlformats.org/officeDocument/2006/relationships/slide" Target="/ppt/slides/slide1.xml" Id="Rc0a5299ff2794177" /><Relationship Type="http://schemas.openxmlformats.org/officeDocument/2006/relationships/slide" Target="/ppt/slides/slide2.xml" Id="Rfdcb1c3d51b745cc" /><Relationship Type="http://schemas.openxmlformats.org/officeDocument/2006/relationships/slide" Target="/ppt/slides/slide3.xml" Id="Raf349b98a8ce41c6" /><Relationship Type="http://schemas.openxmlformats.org/officeDocument/2006/relationships/slide" Target="/ppt/slides/slide4.xml" Id="R1e79bff4e2e74493" /><Relationship Type="http://schemas.openxmlformats.org/officeDocument/2006/relationships/slide" Target="/ppt/slides/slide5.xml" Id="R4b4047e3f3bb4a60" /><Relationship Type="http://schemas.openxmlformats.org/officeDocument/2006/relationships/slide" Target="/ppt/slides/slide6.xml" Id="R0423dbf380c245de" /><Relationship Type="http://schemas.openxmlformats.org/officeDocument/2006/relationships/slide" Target="/ppt/slides/slide7.xml" Id="Rfeb93bee471640fe" /><Relationship Type="http://schemas.openxmlformats.org/officeDocument/2006/relationships/slide" Target="/ppt/slides/slide8.xml" Id="R0474f84c4f014bd6" /><Relationship Type="http://schemas.openxmlformats.org/officeDocument/2006/relationships/slide" Target="/ppt/slides/slide9.xml" Id="Rb4a1947829774fb2" /><Relationship Type="http://schemas.openxmlformats.org/officeDocument/2006/relationships/slide" Target="/ppt/slides/slide10.xml" Id="R6f196dc875d6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1774186f4243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76fc2f69743e0" /><Relationship Type="http://schemas.openxmlformats.org/officeDocument/2006/relationships/notesMaster" Target="/ppt/notesMasters/notesMaster1.xml" Id="R02e6c18c6940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84afd16c0d4668" /><Relationship Type="http://schemas.openxmlformats.org/officeDocument/2006/relationships/notesMaster" Target="/ppt/notesMasters/notesMaster1.xml" Id="R1d15c4d83776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6126656804a71" /><Relationship Type="http://schemas.openxmlformats.org/officeDocument/2006/relationships/notesMaster" Target="/ppt/notesMasters/notesMaster1.xml" Id="R608b82a50cae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d37e0a23c4f74" /><Relationship Type="http://schemas.openxmlformats.org/officeDocument/2006/relationships/notesMaster" Target="/ppt/notesMasters/notesMaster1.xml" Id="R2b66d17cdc3940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96e39e4ab4c55" /><Relationship Type="http://schemas.openxmlformats.org/officeDocument/2006/relationships/notesMaster" Target="/ppt/notesMasters/notesMaster1.xml" Id="R0f529ebc216742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894c88ff8e4bc4" /><Relationship Type="http://schemas.openxmlformats.org/officeDocument/2006/relationships/notesMaster" Target="/ppt/notesMasters/notesMaster1.xml" Id="Rf081f9cf9bb8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38584feaca437f" /><Relationship Type="http://schemas.openxmlformats.org/officeDocument/2006/relationships/notesMaster" Target="/ppt/notesMasters/notesMaster1.xml" Id="Rb08f985a2c6c44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7f6e64724748f2" /><Relationship Type="http://schemas.openxmlformats.org/officeDocument/2006/relationships/notesMaster" Target="/ppt/notesMasters/notesMaster1.xml" Id="R24b53912eaa0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7ac7125ac461c" /><Relationship Type="http://schemas.openxmlformats.org/officeDocument/2006/relationships/notesMaster" Target="/ppt/notesMasters/notesMaster1.xml" Id="R98b9e936809242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3aa92970f4ed6" /><Relationship Type="http://schemas.openxmlformats.org/officeDocument/2006/relationships/notesMaster" Target="/ppt/notesMasters/notesMaster1.xml" Id="Rf101e7cda8d5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2/10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3/10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4/10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5/10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6/10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7/10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8/10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9/10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10/10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70b0eafea401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cdf81dcee48f8" /><Relationship Type="http://schemas.openxmlformats.org/officeDocument/2006/relationships/slideLayout" Target="/ppt/slideLayouts/slideLayout1.xml" Id="R9cc13dd0c16943b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13dd0c16943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2d6b2efb40f1" /><Relationship Type="http://schemas.openxmlformats.org/officeDocument/2006/relationships/image" Target="/ppt/media/image.png" Id="R1002737eff494fb2" /><Relationship Type="http://schemas.openxmlformats.org/officeDocument/2006/relationships/notesSlide" Target="/ppt/notesSlides/notesSlide1.xml" Id="R2db82b553276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2f82af2094d87" /><Relationship Type="http://schemas.openxmlformats.org/officeDocument/2006/relationships/image" Target="/ppt/media/image2.png" Id="R8ae34b86161f4b90" /><Relationship Type="http://schemas.openxmlformats.org/officeDocument/2006/relationships/image" Target="/ppt/media/image3.png" Id="Rc47f2b2d17574a75" /><Relationship Type="http://schemas.openxmlformats.org/officeDocument/2006/relationships/image" Target="/ppt/media/image4.png" Id="Rab9c7db0df504cbe" /><Relationship Type="http://schemas.openxmlformats.org/officeDocument/2006/relationships/notesSlide" Target="/ppt/notesSlides/notesSlide2.xml" Id="R9d9ca5a487cd4a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8028ef75470a" /><Relationship Type="http://schemas.openxmlformats.org/officeDocument/2006/relationships/notesSlide" Target="/ppt/notesSlides/notesSlide3.xml" Id="Rd18b20ecdbca43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4bf1b4a5d4d7b" /><Relationship Type="http://schemas.openxmlformats.org/officeDocument/2006/relationships/image" Target="/ppt/media/image5.png" Id="R412a4c3e7558476c" /><Relationship Type="http://schemas.openxmlformats.org/officeDocument/2006/relationships/image" Target="/ppt/media/image6.png" Id="R55616dbe0dba46f3" /><Relationship Type="http://schemas.openxmlformats.org/officeDocument/2006/relationships/image" Target="/ppt/media/image7.png" Id="Rbaad4dd27ead4cac" /><Relationship Type="http://schemas.openxmlformats.org/officeDocument/2006/relationships/notesSlide" Target="/ppt/notesSlides/notesSlide4.xml" Id="Rd137de157c00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014edcda0470a" /><Relationship Type="http://schemas.openxmlformats.org/officeDocument/2006/relationships/notesSlide" Target="/ppt/notesSlides/notesSlide5.xml" Id="R4a40651ad32b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bbba9147141f7" /><Relationship Type="http://schemas.openxmlformats.org/officeDocument/2006/relationships/notesSlide" Target="/ppt/notesSlides/notesSlide6.xml" Id="R8416e28812de44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c37fbba5841bb" /><Relationship Type="http://schemas.openxmlformats.org/officeDocument/2006/relationships/image" Target="/ppt/media/image8.png" Id="Re86fd86910a248c4" /><Relationship Type="http://schemas.openxmlformats.org/officeDocument/2006/relationships/image" Target="/ppt/media/image9.png" Id="R30d17a2902af491d" /><Relationship Type="http://schemas.openxmlformats.org/officeDocument/2006/relationships/image" Target="/ppt/media/image10.png" Id="R3f6e3948d1164313" /><Relationship Type="http://schemas.openxmlformats.org/officeDocument/2006/relationships/image" Target="/ppt/media/image11.png" Id="R0427b4f6b2a343f6" /><Relationship Type="http://schemas.openxmlformats.org/officeDocument/2006/relationships/notesSlide" Target="/ppt/notesSlides/notesSlide7.xml" Id="Rb6a642df99a948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39a9c043f4bbb" /><Relationship Type="http://schemas.openxmlformats.org/officeDocument/2006/relationships/image" Target="/ppt/media/image12.png" Id="Rb89377cdec6f46a2" /><Relationship Type="http://schemas.openxmlformats.org/officeDocument/2006/relationships/notesSlide" Target="/ppt/notesSlides/notesSlide8.xml" Id="Ra5aceb0b6da344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1c6c5aca54a78" /><Relationship Type="http://schemas.openxmlformats.org/officeDocument/2006/relationships/image" Target="/ppt/media/image13.png" Id="R9f3de2a862e14e0e" /><Relationship Type="http://schemas.openxmlformats.org/officeDocument/2006/relationships/notesSlide" Target="/ppt/notesSlides/notesSlide9.xml" Id="R2623370a99ee4a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0ada74a1c4fc2" /><Relationship Type="http://schemas.openxmlformats.org/officeDocument/2006/relationships/image" Target="/ppt/media/image14.png" Id="R1337cbe9a2f24457" /><Relationship Type="http://schemas.openxmlformats.org/officeDocument/2006/relationships/notesSlide" Target="/ppt/notesSlides/notesSlide10.xml" Id="R71bc7461131649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737eff494fb2">
            <a:alphaModFix amt="1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1463040"/>
            <a:ext cx="3108960" cy="31089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970B06D-C1DE-40B6-8E18-06DAA7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144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CAREER TRANSITION LAB · VOL.2 강의자료</a:t>
            </a:r>
            <a:endParaRPr sz="1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48F5CE3-EBE2-4823-85EB-F74829D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96012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번아웃 이후, 다시 그리는 커리어</a:t>
            </a:r>
            <a:endParaRPr sz="4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55B0F0-0A6C-4840-BBB4-86A3075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C4D8D5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2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0176E0F-43DE-4C46-8F99-5F49116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5353B"/>
          </a:solidFill>
          <a:ln xmlns:a="http://schemas.openxmlformats.org/drawingml/2006/main" w="12700">
            <a:solidFill>
              <a:srgbClr val="2E5A57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C7EC6D1-23AD-4AB7-AFF8-3F3F0D2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AF2F1"/>
                </a:solidFill>
                <a:latin typeface="Calibri"/>
                <a:ea typeface="Calibri"/>
                <a:cs typeface="Calibri"/>
              </a:rPr>
              <a:t>교강사용 미니 렉처 · 8~10분 분량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4CAA8A-F949-4914-B929-9B62FCE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 ·  Career Transition Lab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1762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1EFD66-E044-4754-9A21-BF1D8A0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학습 목표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B40491-6EBC-4F50-AB81-A0DCCBE4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이 장에서 다룰 것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68427C-6119-47D2-A52D-4BCC55AB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4b86161f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210037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EB95000-DD12-42B4-84D3-5F0295D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5623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일의 의미가 달라지는 순간 알아차리기</a:t>
            </a:r>
            <a:endParaRPr sz="1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578D756-8C85-4C47-A4F7-E68A7D76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9514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같은 일을 하면서도 달라진 마음을 살피고, 지금의 질문을 말할 수 있다.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6A4FE08-9799-4B2A-9F5F-0E8FEAF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2b2d17574a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351769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8C37F0E-5EDB-4EB9-9762-2F4ACF6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7355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일과의 관계 세 가지 이해하기</a:t>
            </a:r>
            <a:endParaRPr sz="19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77936E8-95F8-4B46-A589-8807006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71246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일을 생계·성장·소명의 관점에서 바라보고, 자신에게 중요한 가치를 찾는다.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320E09B-E58A-43FC-AD4C-3D20304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c7db0df504c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493501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A61EB8F-D165-495C-9710-9CFA2DA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69087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작은 실험으로 방향 탐색하기</a:t>
            </a:r>
            <a:endParaRPr sz="1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0E2F9CF-7656-4786-9B19-F4D37A6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12978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퇴사 결론을 서두르지 않고, 일의 의미를 다시 연결할 한 가지 행동을 정한다.</a:t>
            </a:r>
            <a:endParaRPr sz="14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9B6D03-CB5D-41EA-8A08-7CBDAC1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3301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01BD35-E1B0-4CC3-8D80-F613CFB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오프닝 사례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DE81B1-C6DF-463B-88E3-CAD88E53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같은 일인데, 왜 다르게 느껴질까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417899-8047-4619-97C7-9EEF4EE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949440" cy="416052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5353B"/>
          </a:solidFill>
          <a:effectLst xmlns:a="http://schemas.openxmlformats.org/drawingml/2006/main">
            <a:outerShdw blurRad="152400" dist="50800" dir="54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093729-6FF3-4177-B29C-9E58C5E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21792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금융회사 11년차 윤성민은 입사 첫해의 수첩을 다시 펼친다.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“이 회사의 숫자가 어디로 흘러가는지, 그 흐름을 가장 먼저 읽는 사람이 되고 싶다.”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지금도 숫자를 다루지만, 하루는 처리할 일 목록으로 채워진다. 퇴근길에 문득 묻는다.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“나는 왜 이 일을 하고 있는 거지?”</a:t>
            </a:r>
            <a:endParaRPr sz="15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756537C-4BD6-4285-BB49-FBCE56C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783080"/>
            <a:ext cx="388620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1A41E8-52A0-4829-8C08-F944D7A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9659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금융회사 11년차 · 윤성민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E7B8C7A-CD42-4E03-AB14-0F02697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3172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“나는 왜 이 일을 하고 있는 거지?”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3B74A4-DEDD-4725-B47B-F52ACA6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246120"/>
            <a:ext cx="3886200" cy="269748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4D0BB0-76D0-4F97-BEFC-52215AC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6432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생각해 볼 질문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E35AF-3790-4A75-932E-CAA4022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0480"/>
            <a:ext cx="33832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처음 이 일을 시작한 이유와</a:t>
            </a:r>
            <a:endParaRPr sz="19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지금 계속하는 이유는 같은가?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16A042-1A1B-4747-9E06-066EE75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1552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43454-0289-4628-BA56-F3B80B5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1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A34475-C53D-401D-A70C-F1D4A6A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일을 바라보는 세 가지 관점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7EB299-AEC4-4905-B2C1-8C46F5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C67860-B275-4384-8CE2-F053C556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10424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일을 바라보는 관점은 고정된 성격이나 우열이 아니다. 같은 사람도 시기와 상황에 따라 생계·성장·소명 가운데 다른 가치를 앞세울 수 있다.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80C03C5-D3DF-401B-8D11-A444190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3AE9A4-DB9D-4151-AAF7-DA2C26F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a4c3e7558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40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A3B4B34-8260-445A-83CA-FF6F5B0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생계 · Job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134B9A4-9697-4C84-B28A-C99CF192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수입과 생활의 안정을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일의 중요한 이유로 둔다.</a:t>
            </a:r>
            <a:endParaRPr sz="12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F9DE1E-EB5C-41E1-AC61-CD3CE67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A45627C-1F03-4000-A824-70FB2B8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42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16dbe0dba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416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23A320F-F243-45F2-B422-3EFF544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성장 · Career</a:t>
            </a:r>
            <a:endParaRPr sz="16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5FDC071-15E6-4FAE-AAEF-8998A0D5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배움·성과·진전을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일의 중요한 이유로 둔다.</a:t>
            </a:r>
            <a:endParaRPr sz="12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924992B-BE2C-4313-8F9A-6137784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AD41FE6-B8F0-43B0-8B33-41EAEEB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d4dd27ead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892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5F4033A-B6F4-4841-8CFE-43A66EC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소명 · Calling</a:t>
            </a:r>
            <a:endParaRPr sz="16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C7B45D5-C3E1-467B-8EBD-D8D35CD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정체성·기여·의미를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일의 중요한 이유로 둔다.</a:t>
            </a:r>
            <a:endParaRPr sz="125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9A6FB13-87B1-4743-8B7C-B048DC3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참고: Wrzesniewski 외(1997), 일을 바라보는 Job·Career·Calling 관점. 세 관점은 우열이 아니다.</a:t>
            </a:r>
            <a:endParaRPr sz="11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C7616DA6-0312-4B40-A462-C8F2FE9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86374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4FFB62-9DC0-4498-B553-B5C6106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2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61BFD9-ADCD-4D4E-8399-E4471DB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“왜 일하는가”를 묻는 네 가지 단서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0EF5FF-E4B7-4189-AFF2-9CB3505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A57792-8D03-4C10-93B2-8F22FE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2390FA-A8DD-4415-94F4-20890F9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생활의 조건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D30ED7-75E1-414A-A926-18DB0A5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생계와 안정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64B2E5-5367-466D-B61A-098DFD2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수입과 생활의 안정은 정당한 가치다. 지금 필요한 조건을 구체적으로 적는다.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EF88B4-3622-4438-A49F-CBB22CD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6447321-F04F-4EA0-91F6-C0D0144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FC24A0-782D-45F3-92C0-06B76D4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성장과 역량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687300-CDFA-4990-9264-F75482F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배움과 진전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6EC2A4-DDD0-470A-B706-2BBC6B9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어떤 일에서 배우고 있다는 느낌이 드는지 되짚는다.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29329A8-1776-466D-8FE2-ED70632F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BBBD6C2-0887-4F57-B46A-A247882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33852D5-5119-41E2-9772-CFE6D185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관계와 기여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19850-2C5B-44CB-9A31-D4159AF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도움과 연결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81C091-DDA7-45C4-91CC-EF1E9D7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내 일이 누구에게 어떤 도움을 주는지 살핀다.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5154ED6-3A9D-4421-94FA-165C90C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C07A1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0BBBDA-B6DF-4B77-9B55-B94A05B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20000"/>
            </a:srgbClr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4F1899-4E05-409A-BF68-46B607E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나의 삶 전체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31051E6-9199-499F-AE93-CB6DC8B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균형과 자율</a:t>
            </a:r>
            <a:endParaRPr sz="2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DADD53-FDED-43C4-BFD6-44126F7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FFF3E0"/>
                </a:solidFill>
                <a:latin typeface="Calibri"/>
                <a:ea typeface="Calibri"/>
                <a:cs typeface="Calibri"/>
              </a:rPr>
              <a:t>일 바깥의 삶에 필요한 시간과 선택권을 함께 생각한다.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B430E7E-27A1-43D7-9B4B-04F2F7E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5365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4CFC36-DAAC-413A-B016-74EDE7C2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가치로 읽는 일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3E240F-70FD-450B-A8FE-04BED38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지금 내게 중요한 네 가지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285122-041B-456D-9D22-6A24695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7F9252-7C1F-4A51-95B6-6D4B0E2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생계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2D1D9C-855C-4B6B-8A52-065823D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생활을 지탱하는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수입과 안정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AD369F2-E621-461B-A50D-F0BC50E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B1E57B-68E6-4F07-A08F-6C56DB4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성장</a:t>
            </a:r>
            <a:endParaRPr sz="4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4BDC45-606A-4696-B9D5-EDBD49C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배움과 역량의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확장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5153638-5448-4A74-897A-744EFF3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6482E35-8B43-4C42-A59B-78BA2657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기여</a:t>
            </a:r>
            <a:endParaRPr sz="4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FBAF4C-3A1C-4B88-942E-DD293B7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타인에게 주는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도움과 의미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046CDA-0448-4D6F-80B9-441479C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057400"/>
            <a:ext cx="2606040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F085A5-87F7-4BA9-B684-F0F9425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33172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균형</a:t>
            </a:r>
            <a:endParaRPr sz="4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A2FB15-5661-4EF3-B139-F0A7139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520440"/>
            <a:ext cx="2240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시간·건강·관계의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지속 가능성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61BDA2-1B9F-41BE-84A9-1E1DD00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수업 안내: 네 가지 중 지금 가장 중요한 가치를 고르고, 1년 전과 달라진 이유를 적어본다.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F399B8-9C91-420B-B0ED-22BE09A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3067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EDBC5E-F469-4595-9923-3CC97112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3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1333CF-9A03-4678-AEC4-42861C9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의미가 희미해지는 이유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7BF620-93E3-4FDF-8C81-CEFB0B6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fd86910a2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800493-3553-4477-99C5-AF13B42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업무가 목표를 가릴 때</a:t>
            </a:r>
            <a:endParaRPr sz="15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837D00-811B-434B-8427-B8139A0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처리할 일은 많지만 그 일이 향하는 곳은 보이지 않는다.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5EE6CF6-8881-4FAB-8BD7-78708BC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17a2902af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16E76EE-4101-403F-8AF1-256D2E6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성장 감각이 멈출 때</a:t>
            </a:r>
            <a:endParaRPr sz="15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D472462-39B3-4F40-8B0A-45F9204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익숙해진 능력이 더 이상 배움으로 느껴지지 않는다.</a:t>
            </a:r>
            <a:endParaRPr sz="12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7B0F470-E26F-43D1-A43D-D220F05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3948d116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36C3734-8E59-4321-81D1-66D906B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내 가치가 바뀌었을 때</a:t>
            </a:r>
            <a:endParaRPr sz="15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0F0EDD0-35A1-4EF6-B1EC-433341F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예전의 목표가 지금의 삶과 맞지 않을 수 있다.</a:t>
            </a:r>
            <a:endParaRPr sz="12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44CA1D1-B22F-4B40-A5F6-481470A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b4f6b2a3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A13F6FE-3E5F-4E38-BD94-7D2DC7FE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선택권이 좁아졌을 때</a:t>
            </a:r>
            <a:endParaRPr sz="155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EC82AF32-161B-42CF-9D75-36146AD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일하는 방식에 대한 통제감이 줄면 의미도 멀어진다.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536EE1B-4206-4DA4-AED9-A99ADC8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74920"/>
            <a:ext cx="923544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10EAE21-3CF3-48C6-9530-B4180A0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074920"/>
            <a:ext cx="8869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질문은 “그만둘까?”보다 “지금 내게 중요한 것은 무엇인가?”에서 시작한다.</a:t>
            </a:r>
            <a:endParaRPr sz="17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F94397B-1A4D-4C10-8862-3ED9A9B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1580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B6DEC-28F1-4659-8D91-E3049B6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수업 도구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4B7956-6A86-4170-91CC-C073711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나의 일의 이유 다시 쓰기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76CD4D-09E1-44C8-ACDA-F93B0AD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219154-303D-4DBD-92D5-B61266E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과거와 현재를 비교하는 4단계 기록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930E6F-12F4-4FE2-B415-9CD97B7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16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F3AD51-E99E-4942-9C63-99C8FC7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8716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처음 시작한 이유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6FD8764-F523-41D2-97EB-F2CE0F4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2724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18DF9C-9B07-4DD9-B7C3-14A828C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2724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지금 계속하는 이유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8B2E5DB-ACC0-4FE7-8307-B850F41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6732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F784F6-758C-4C14-A4BB-8A7C2AC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6732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에너지가 살아나는 순간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ACA021-E0C5-441F-B5FD-D49A11F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355266-9351-47F2-A07B-E85F08F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0740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바꾸고 싶은 한 가지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682B75-9555-4E32-BECA-664F255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5780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05353B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4BA188-BC57-458C-969C-464E295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6596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기록 후 살펴보기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345465-C1DD-47E3-9471-AAFA6A5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같은 점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07C550-DEF6-41E9-94B4-B07F359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716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계속 지키고 싶은 가치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8736CF-F74A-45A6-9D46-3A13550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2783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달라진 점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50DE7F-48F3-4D10-8A85-1C81EDA2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440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새롭게 중요해진 가치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61BD28-6764-4F12-AC72-436EDB9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작은 실험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D097A3-85F3-49E5-BED7-A130F2B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164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이번 주에 해볼 행동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6C885F-A147-418B-89F0-CCBBC83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7A10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377cdec6f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6811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61A3C3C-0C9F-46A5-AC1B-4F7B6063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57800"/>
            <a:ext cx="9966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강의 활용: 각자 두 문장을 쓴 뒤, 달라진 가치를 짝과 나누고 작은 실험을 하나 정한다.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868BB2F-DF98-4DF3-89A9-5E78B1A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67549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3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e2a862e14e0e">
            <a:alphaModFix amt="2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320" y="502920"/>
            <a:ext cx="1737360" cy="17373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ACF8C43-C430-41C0-AB9E-610D8FFD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토론 &amp; 활동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E63861-DD27-4510-B97D-55102AC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토론 질문 &amp; 수업 활동</a:t>
            </a:r>
            <a:endParaRPr sz="3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8952B68-94DB-4C15-8078-599CC7A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653BB3-1124-4C06-8783-3848191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51F8620-EC59-44EB-9FC4-66B2F35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7452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일을 시작할 때 가장 중요했던 가치와 지금 가장 중요한 가치는 무엇인가?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C7F96FD-F01F-4877-84AA-03212554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D01168E-CB73-4AA3-8C0C-B2DD9B5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C7D9FAB-C9B3-40F7-8EFC-980005D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3464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가치가 현재의 일에서 충족되는 순간은 언제인가?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0074F45-0448-401F-A348-AFA6424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106424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E047692-A335-4F03-8872-E5610B47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활동 · 두 문장 쓰기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7F6BE8B-CFCD-47B2-8185-4F62F82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332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“나는 이 일을 시작했다. 왜냐하면 ___.”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“나는 지금 이 일을 계속한다. 왜냐하면 ___.”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두 문장 사이에서 달라진 점을 표시한다.</a:t>
            </a:r>
            <a:endParaRPr sz="1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B6B2263-C468-4729-AFC8-FB435FF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2장 · 왜 일하는가를 다시 묻는 시간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6405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9DB6FC-E44E-4FC6-A647-353FD5C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오늘의 핵심 정리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D041AA-250F-434F-849F-B26809C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2장 요약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35F4CD-743A-4F74-BBE3-524BB6DA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04A6CE-1DF7-46D6-8EBC-F151B1C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5DF84D-FE16-42DC-B538-1961A34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6596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일의 의미가 달라졌다면, 먼저 지금 중요해진 가치를 살펴본다.</a:t>
            </a:r>
            <a:endParaRPr sz="17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1862C0-8A4F-47E3-986D-AB6EFD7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CB09B8-40E4-4481-885B-EDB21A5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7712F6-B444-4A2B-A804-5714299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생계·성장·소명은 우열이 아니라 일을 바라보는 서로 다른 관점이다.</a:t>
            </a:r>
            <a:endParaRPr sz="17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94807AB-C7F9-49EA-933A-F451C45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97243D-8973-4EE7-8CFC-456120E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3DF086C-8C46-45B4-B3CB-F712F81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큰 결론보다 작은 실험으로 일과의 관계를 다시 연결한다.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10A7B4-5349-429D-B088-FEC1EBE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74980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B44A0D-85EB-44EA-A09D-BD3EB84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463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다음 시간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A3CF52-E327-40CB-A6F4-17F9635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858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3장. 우연기술 다시 보기</a:t>
            </a:r>
            <a:endParaRPr sz="2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7cbe9a2f2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50749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E410D7C-4350-4644-B57E-85CF35B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· Career Transition Lab</a:t>
            </a:r>
            <a:endParaRPr sz="11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강의자료 문의: lswon@hansung.ac.kr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433108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2026-09-22T07:59:38.6980000Z</dcterms:created>
  <dcterms:modified xsi:type="dcterms:W3CDTF">2026-09-22T07:59:38.6980000Z</dcterms:modified>
</coreProperties>
</file>
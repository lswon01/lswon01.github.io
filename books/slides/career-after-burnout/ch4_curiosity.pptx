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0bddc6bec7b491d" Type="http://schemas.openxmlformats.org/officeDocument/2006/relationships/officeDocument" Target="ppt/presentation.xml"/><Relationship Id="R3d46e846bad84988" Type="http://schemas.openxmlformats.org/package/2006/relationships/metadata/core-properties" Target="docProps/core.xml"/><Relationship Id="Rcacdd4b3fa9f43e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dd4722fa1a47a0"/>
  </p:sldMasterIdLst>
  <p:notesMasterIdLst>
    <p:notesMasterId xmlns:r="http://schemas.openxmlformats.org/officeDocument/2006/relationships" r:id="R20398ed5a1514a18"/>
  </p:notesMasterIdLst>
  <p:sldIdLst>
    <p:sldId xmlns:r="http://schemas.openxmlformats.org/officeDocument/2006/relationships" id="256" r:id="Rc0a5299ff2794177"/>
    <p:sldId xmlns:r="http://schemas.openxmlformats.org/officeDocument/2006/relationships" id="257" r:id="Rfdcb1c3d51b745cc"/>
    <p:sldId xmlns:r="http://schemas.openxmlformats.org/officeDocument/2006/relationships" id="258" r:id="Raf349b98a8ce41c6"/>
    <p:sldId xmlns:r="http://schemas.openxmlformats.org/officeDocument/2006/relationships" id="259" r:id="R1e79bff4e2e74493"/>
    <p:sldId xmlns:r="http://schemas.openxmlformats.org/officeDocument/2006/relationships" id="260" r:id="R4b4047e3f3bb4a60"/>
    <p:sldId xmlns:r="http://schemas.openxmlformats.org/officeDocument/2006/relationships" id="261" r:id="R0423dbf380c245de"/>
    <p:sldId xmlns:r="http://schemas.openxmlformats.org/officeDocument/2006/relationships" id="262" r:id="Rfeb93bee471640fe"/>
    <p:sldId xmlns:r="http://schemas.openxmlformats.org/officeDocument/2006/relationships" id="263" r:id="R0474f84c4f014bd6"/>
    <p:sldId xmlns:r="http://schemas.openxmlformats.org/officeDocument/2006/relationships" id="264" r:id="Rb4a1947829774fb2"/>
    <p:sldId xmlns:r="http://schemas.openxmlformats.org/officeDocument/2006/relationships" id="265" r:id="R6f196dc875d6475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423dbf380c245de" Type="http://schemas.openxmlformats.org/officeDocument/2006/relationships/slide" Target="slides/slide6.xml"/><Relationship Id="R0474f84c4f014bd6" Type="http://schemas.openxmlformats.org/officeDocument/2006/relationships/slide" Target="slides/slide8.xml"/><Relationship Id="R1e79bff4e2e74493" Type="http://schemas.openxmlformats.org/officeDocument/2006/relationships/slide" Target="slides/slide4.xml"/><Relationship Id="R20398ed5a1514a18" Type="http://schemas.openxmlformats.org/officeDocument/2006/relationships/notesMaster" Target="notesMasters/notesMaster1.xml"/><Relationship Id="R33cb3dd3295c461e" Type="http://schemas.openxmlformats.org/officeDocument/2006/relationships/theme" Target="theme/theme1.xml"/><Relationship Id="R4b4047e3f3bb4a60" Type="http://schemas.openxmlformats.org/officeDocument/2006/relationships/slide" Target="slides/slide5.xml"/><Relationship Id="R4cdd4722fa1a47a0" Type="http://schemas.openxmlformats.org/officeDocument/2006/relationships/slideMaster" Target="slideMasters/slideMaster1.xml"/><Relationship Id="R6f196dc875d6475f" Type="http://schemas.openxmlformats.org/officeDocument/2006/relationships/slide" Target="slides/slide10.xml"/><Relationship Id="Raf349b98a8ce41c6" Type="http://schemas.openxmlformats.org/officeDocument/2006/relationships/slide" Target="slides/slide3.xml"/><Relationship Id="Rb4a1947829774fb2" Type="http://schemas.openxmlformats.org/officeDocument/2006/relationships/slide" Target="slides/slide9.xml"/><Relationship Id="Rc0a5299ff2794177" Type="http://schemas.openxmlformats.org/officeDocument/2006/relationships/slide" Target="slides/slide1.xml"/><Relationship Id="Rd5b76d55ad134b1d" Type="http://schemas.openxmlformats.org/officeDocument/2006/relationships/presProps" Target="presProps.xml"/><Relationship Id="Red109daf720d4e1e" Type="http://schemas.openxmlformats.org/officeDocument/2006/relationships/viewProps" Target="viewProps.xml"/><Relationship Id="Rf20aacd6fe8f40df" Type="http://schemas.openxmlformats.org/officeDocument/2006/relationships/tableStyles" Target="tableStyles.xml"/><Relationship Id="Rfdcb1c3d51b745cc" Type="http://schemas.openxmlformats.org/officeDocument/2006/relationships/slide" Target="slides/slide2.xml"/><Relationship Id="Rfeb93bee471640fe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6c1774186f4243e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2e6c18c6940489d" Type="http://schemas.openxmlformats.org/officeDocument/2006/relationships/notesMaster" Target="../notesMasters/notesMaster1.xml"/><Relationship Id="Rfb676fc2f69743e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d15c4d837764fea" Type="http://schemas.openxmlformats.org/officeDocument/2006/relationships/notesMaster" Target="../notesMasters/notesMaster1.xml"/><Relationship Id="R5a84afd16c0d466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3d6126656804a71" Type="http://schemas.openxmlformats.org/officeDocument/2006/relationships/slide" Target="../slides/slide3.xml"/><Relationship Id="R608b82a50cae405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2dd37e0a23c4f74" Type="http://schemas.openxmlformats.org/officeDocument/2006/relationships/slide" Target="../slides/slide4.xml"/><Relationship Id="R2b66d17cdc39407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f529ebc216742a8" Type="http://schemas.openxmlformats.org/officeDocument/2006/relationships/notesMaster" Target="../notesMasters/notesMaster1.xml"/><Relationship Id="R63296e39e4ab4c5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7894c88ff8e4bc4" Type="http://schemas.openxmlformats.org/officeDocument/2006/relationships/slide" Target="../slides/slide6.xml"/><Relationship Id="Rf081f9cf9bb842e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08f985a2c6c4479" Type="http://schemas.openxmlformats.org/officeDocument/2006/relationships/notesMaster" Target="../notesMasters/notesMaster1.xml"/><Relationship Id="Rfb38584feaca437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4b53912eaa04fe9" Type="http://schemas.openxmlformats.org/officeDocument/2006/relationships/notesMaster" Target="../notesMasters/notesMaster1.xml"/><Relationship Id="Rba7f6e64724748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107ac7125ac461c" Type="http://schemas.openxmlformats.org/officeDocument/2006/relationships/slide" Target="../slides/slide9.xml"/><Relationship Id="R98b9e936809242e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ea3aa92970f4ed6" Type="http://schemas.openxmlformats.org/officeDocument/2006/relationships/slide" Target="../slides/slide10.xml"/><Relationship Id="Rf101e7cda8d54ca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2/10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3/10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4/10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5/10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6/10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7/10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8/10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9/10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10/10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0570b0eafea401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5bcdf81dcee48f8" Type="http://schemas.openxmlformats.org/officeDocument/2006/relationships/theme" Target="theme/theme2.xml"/><Relationship Id="R9cc13dd0c16943b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13dd0c16943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552d6b2efb40f1" Type="http://schemas.openxmlformats.org/officeDocument/2006/relationships/slideLayout" Target="../slideLayouts/slideLayout1.xml"/><Relationship Id="R1002737eff494fb2" Type="http://schemas.openxmlformats.org/officeDocument/2006/relationships/image" Target="../media/image.png"/><Relationship Id="R2db82b553276435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952f82af2094d87" Type="http://schemas.openxmlformats.org/officeDocument/2006/relationships/slideLayout" Target="../slideLayouts/slideLayout1.xml"/><Relationship Id="R8ae34b86161f4b90" Type="http://schemas.openxmlformats.org/officeDocument/2006/relationships/image" Target="../media/image2.png"/><Relationship Id="R9d9ca5a487cd4a07" Type="http://schemas.openxmlformats.org/officeDocument/2006/relationships/notesSlide" Target="../notesSlides/notesSlide2.xml"/><Relationship Id="Rab9c7db0df504cbe" Type="http://schemas.openxmlformats.org/officeDocument/2006/relationships/image" Target="../media/image4.png"/><Relationship Id="Rc47f2b2d17574a7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bf6c8028ef75470a" Type="http://schemas.openxmlformats.org/officeDocument/2006/relationships/slideLayout" Target="../slideLayouts/slideLayout1.xml"/><Relationship Id="Rd18b20ecdbca438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12a4c3e7558476c" Type="http://schemas.openxmlformats.org/officeDocument/2006/relationships/image" Target="../media/image5.png"/><Relationship Id="R55616dbe0dba46f3" Type="http://schemas.openxmlformats.org/officeDocument/2006/relationships/image" Target="../media/image6.png"/><Relationship Id="Ra734bf1b4a5d4d7b" Type="http://schemas.openxmlformats.org/officeDocument/2006/relationships/slideLayout" Target="../slideLayouts/slideLayout1.xml"/><Relationship Id="Rbaad4dd27ead4cac" Type="http://schemas.openxmlformats.org/officeDocument/2006/relationships/image" Target="../media/image7.png"/><Relationship Id="Rd137de157c00415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a40651ad32b4e20" Type="http://schemas.openxmlformats.org/officeDocument/2006/relationships/notesSlide" Target="../notesSlides/notesSlide5.xml"/><Relationship Id="Re63014edcda0470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8416e28812de441c" Type="http://schemas.openxmlformats.org/officeDocument/2006/relationships/notesSlide" Target="../notesSlides/notesSlide6.xml"/><Relationship Id="Rbefbbba9147141f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27b4f6b2a343f6" Type="http://schemas.openxmlformats.org/officeDocument/2006/relationships/image" Target="../media/image11.png"/><Relationship Id="R30d17a2902af491d" Type="http://schemas.openxmlformats.org/officeDocument/2006/relationships/image" Target="../media/image9.png"/><Relationship Id="R3f6e3948d1164313" Type="http://schemas.openxmlformats.org/officeDocument/2006/relationships/image" Target="../media/image10.png"/><Relationship Id="R472c37fbba5841bb" Type="http://schemas.openxmlformats.org/officeDocument/2006/relationships/slideLayout" Target="../slideLayouts/slideLayout1.xml"/><Relationship Id="Rb6a642df99a9486e" Type="http://schemas.openxmlformats.org/officeDocument/2006/relationships/notesSlide" Target="../notesSlides/notesSlide7.xml"/><Relationship Id="Re86fd86910a248c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a5aceb0b6da34461" Type="http://schemas.openxmlformats.org/officeDocument/2006/relationships/notesSlide" Target="../notesSlides/notesSlide8.xml"/><Relationship Id="Rb89377cdec6f46a2" Type="http://schemas.openxmlformats.org/officeDocument/2006/relationships/image" Target="../media/image12.png"/><Relationship Id="Rc7739a9c043f4bb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623370a99ee4a38" Type="http://schemas.openxmlformats.org/officeDocument/2006/relationships/notesSlide" Target="../notesSlides/notesSlide9.xml"/><Relationship Id="R6ec1c6c5aca54a78" Type="http://schemas.openxmlformats.org/officeDocument/2006/relationships/slideLayout" Target="../slideLayouts/slideLayout1.xml"/><Relationship Id="R9f3de2a862e14e0e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1337cbe9a2f24457" Type="http://schemas.openxmlformats.org/officeDocument/2006/relationships/image" Target="../media/image14.png"/><Relationship Id="R71bc74611316496f" Type="http://schemas.openxmlformats.org/officeDocument/2006/relationships/notesSlide" Target="../notesSlides/notesSlide10.xml"/><Relationship Id="Re580ada74a1c4fc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737eff494fb2">
            <a:alphaModFix amt="1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1463040"/>
            <a:ext cx="3108960" cy="31089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970B06D-C1DE-40B6-8E18-06DAA7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144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CAREER TRANSITION LAB · VOL.2 강의자료</a:t>
            </a:r>
            <a:endParaRPr sz="1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48F5CE3-EBE2-4823-85EB-F74829D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96012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번아웃 이후, 다시 그리는 커리어</a:t>
            </a:r>
            <a:endParaRPr sz="4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55B0F0-0A6C-4840-BBB4-86A3075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C4D8D5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2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0176E0F-43DE-4C46-8F99-5F49116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5353B"/>
          </a:solidFill>
          <a:ln xmlns:a="http://schemas.openxmlformats.org/drawingml/2006/main" w="12700">
            <a:solidFill>
              <a:srgbClr val="2E5A57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C7EC6D1-23AD-4AB7-AFF8-3F3F0D2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AF2F1"/>
                </a:solidFill>
                <a:latin typeface="Calibri"/>
                <a:ea typeface="Calibri"/>
                <a:cs typeface="Calibri"/>
              </a:rPr>
              <a:t>교강사용 미니 렉처 · 8~10분 분량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4CAA8A-F949-4914-B929-9B62FCE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 ·  Career Transition Lab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1762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1EFD66-E044-4754-9A21-BF1D8A0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학습 목표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B40491-6EBC-4F50-AB81-A0DCCBE4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이 장에서 다룰 것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68427C-6119-47D2-A52D-4BCC55AB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4b86161f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210037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EB95000-DD12-42B4-84D3-5F0295D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5623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관심은 발견이 아니라 만들어지는 것임을 이해하기</a:t>
            </a:r>
            <a:endParaRPr sz="1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578D756-8C85-4C47-A4F7-E68A7D76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9514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“진짜 좋아하는 일”을 찾아내야 한다는 부담을 내려놓는다.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6A4FE08-9799-4B2A-9F5F-0E8FEAF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2b2d17574a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351769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8C37F0E-5EDB-4EB9-9762-2F4ACF6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7355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번아웃의 냉소와 호기심이 같은 자리에 있음을 확인하기</a:t>
            </a:r>
            <a:endParaRPr sz="19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77936E8-95F8-4B46-A589-8807006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71246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흥미는 사라진 것이 아니라 잠시 꺼져 있는 상태에 가깝다.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320E09B-E58A-43FC-AD4C-3D20304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c7db0df504c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493501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A61EB8F-D165-495C-9710-9CFA2DA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69087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정보탐색 인터뷰와 작은 시도를 실천으로 옮기기</a:t>
            </a:r>
            <a:endParaRPr sz="1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0E2F9CF-7656-4786-9B19-F4D37A6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12978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질문 하나에서 시작하는 호기심의 순환을 직접 돌려본다.</a:t>
            </a:r>
            <a:endParaRPr sz="14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9B6D03-CB5D-41EA-8A08-7CBDAC1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3301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01BD35-E1B0-4CC3-8D80-F613CFB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오프닝 사례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DE81B1-C6DF-463B-88E3-CAD88E53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댓글 한 줄 앞에서 멈춘 순간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417899-8047-4619-97C7-9EEF4EE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949440" cy="416052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5353B"/>
          </a:solidFill>
          <a:effectLst xmlns:a="http://schemas.openxmlformats.org/drawingml/2006/main">
            <a:outerShdw blurRad="152400" dist="50800" dir="5400000" sx="100000" sy="100000" kx="0" ky="0" algn="bl" rotWithShape="0">
              <a:srgbClr val="000000">
                <a:alpha val="2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093729-6FF3-4177-B29C-9E58C5E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21792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개발팀 8년차 박재현은 퇴근길 지하철에서 커뮤니티에 짧은 글을 하나 올렸다.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다음 날 아침, 낯선 계정의 댓글 하나가 달려 있었다.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“저도 비슷한 고민 했었는데요, 저는 데이터 분석 쪽으로 옮기면서 좀 달라지더라고요.”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“데이터 분석… 그게 정확히 어떤 일이지?”</a:t>
            </a:r>
            <a:endParaRPr sz="15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756537C-4BD6-4285-BB49-FBCE56C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783080"/>
            <a:ext cx="388620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1A41E8-52A0-4829-8C08-F944D7A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9659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개발팀 8년차 · 박재현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E7B8C7A-CD42-4E03-AB14-0F02697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3172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“누군가의 일을 궁금해한 게 언제였더라.”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3B74A4-DEDD-4725-B47B-F52ACA6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246120"/>
            <a:ext cx="3886200" cy="269748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4D0BB0-76D0-4F97-BEFC-52215AC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6432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생각해 볼 질문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E35AF-3790-4A75-932E-CAA4022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0480"/>
            <a:ext cx="33832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최근 “이건 뭐지?”라고</a:t>
            </a:r>
            <a:endParaRPr sz="19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잠깐 멈칫한 순간이 있었는가?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16A042-1A1B-4747-9E06-066EE75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1552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43454-0289-4628-BA56-F3B80B5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1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A34475-C53D-401D-A70C-F1D4A6A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관심은 발견이 아니라 만들어진다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7EB299-AEC4-4905-B2C1-8C46F5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C67860-B275-4384-8CE2-F053C556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10424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흥미는 “이게 얼마나 새로운가”와 “내가 이걸 이해할 수 있는가”라는 두 평가가 함께 작동할 때 생긴다. 그래서 흥미는 좁은 구간에서만 잠깐 켜진다.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80C03C5-D3DF-401B-8D11-A444190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3AE9A4-DB9D-4151-AAF7-DA2C26F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a4c3e7558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40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A3B4B34-8260-445A-83CA-FF6F5B0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너무 낯설면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134B9A4-9697-4C84-B28A-C99CF192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어디서 손댈지 모른다.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흥미보다 불안이 앞선다.</a:t>
            </a:r>
            <a:endParaRPr sz="12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F9DE1E-EB5C-41E1-AC61-CD3CE67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A45627C-1F03-4000-A824-70FB2B8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42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16dbe0dba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416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23A320F-F243-45F2-B422-3EFF544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너무 익숙하면</a:t>
            </a:r>
            <a:endParaRPr sz="16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5FDC071-15E6-4FAE-AAEF-8998A0D5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더 알아볼 것이 없어 보인다.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무관심이 자리를 차지한다.</a:t>
            </a:r>
            <a:endParaRPr sz="12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924992B-BE2C-4313-8F9A-6137784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AD41FE6-B8F0-43B0-8B33-41EAEEB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d4dd27ead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892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5F4033A-B6F4-4841-8CFE-43A66EC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그 사이에서</a:t>
            </a:r>
            <a:endParaRPr sz="16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C7B45D5-C3E1-467B-8EBD-D8D35CD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“낯설지만 따라가 볼 만하다”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그 지점에서 흥미가 켜진다.</a:t>
            </a:r>
            <a:endParaRPr sz="125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9A6FB13-87B1-4743-8B7C-B048DC3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출처: Mitchell, Levin &amp; Krumboltz(1999) “관심은 학습을 통해 만들어진다” · Silvia의 흥미 연구.</a:t>
            </a:r>
            <a:endParaRPr sz="11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C7616DA6-0312-4B40-A462-C8F2FE9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86374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4FFB62-9DC0-4498-B553-B5C6106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2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61BFD9-ADCD-4D4E-8399-E4471DB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번아웃과 호기심은 같은 자리에서 시작된다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0EF5FF-E4B7-4189-AFF2-9CB3505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A57792-8D03-4C10-93B2-8F22FE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2390FA-A8DD-4415-94F4-20890F9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번아웃 경험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D30ED7-75E1-414A-A926-18DB0A5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69.0%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64B2E5-5367-466D-B61A-098DFD2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잡코리아가 2024년 6월 직장인 342명에게 물은 결과다.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EF88B4-3622-4438-A49F-CBB22CD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6447321-F04F-4EA0-91F6-C0D0144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FC24A0-782D-45F3-92C0-06B76D4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연령대 1위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687300-CDFA-4990-9264-F75482F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30대 75.3%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6EC2A4-DDD0-470A-B706-2BBC6B9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20대 61.1%, 40대 60.5%보다 높다. 흥미가 옅어진 상태를 가장 많이 겪는다.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29329A8-1776-466D-8FE2-ED70632F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BBBD6C2-0887-4F57-B46A-A247882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33852D5-5119-41E2-9772-CFE6D185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회복 방법 1위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19850-2C5B-44CB-9A31-D4159AF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휴식 47.9%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81C091-DDA7-45C4-91CC-EF1E9D7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휴가나 휴직으로 쉬었다는 응답이다.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5154ED6-3A9D-4421-94FA-165C90C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C07A1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0BBBDA-B6DF-4B77-9B55-B94A05B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20000"/>
            </a:srgbClr>
          </a:solidFill>
        </p:spPr>
        <p:txBody xmlns:a="http://schemas.openxmlformats.org/drawingml/2006/main">
          <a:bodyPr/>
          <a:p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4F1899-4E05-409A-BF68-46B607E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회복 방법 2위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31051E6-9199-499F-AE93-CB6DC8B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취미 41.5%</a:t>
            </a:r>
            <a:endParaRPr sz="2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DADD53-FDED-43C4-BFD6-44126F7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FFF3E0"/>
                </a:solidFill>
                <a:latin typeface="Calibri"/>
                <a:ea typeface="Calibri"/>
                <a:cs typeface="Calibri"/>
              </a:rPr>
              <a:t>이미 다른 일에 잠깐 마음을 쓰고 있었다. 호기심이라는 이름이 붙지 않았을 뿐이다.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B430E7E-27A1-43D7-9B4B-04F2F7E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5365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4CFC36-DAAC-413A-B016-74EDE7C2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데이터로 보기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3E240F-70FD-450B-A8FE-04BED38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회사 밖을 가장 많이 두드리는 세대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285122-041B-456D-9D22-6A24695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7F9252-7C1F-4A51-95B6-6D4B0E2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57.0%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2D1D9C-855C-4B6B-8A52-065823D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30대의 부업 경험률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전 연령대 중 1위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AD369F2-E621-461B-A50D-F0BC50E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B1E57B-68E6-4F07-A08F-6C56DB4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55.2%</a:t>
            </a:r>
            <a:endParaRPr sz="4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4BDC45-606A-4696-B9D5-EDBD49C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20대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바로 다음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5153638-5448-4A74-897A-744EFF3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6482E35-8B43-4C42-A59B-78BA2657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50.4%</a:t>
            </a:r>
            <a:endParaRPr sz="4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FBAF4C-3A1C-4B88-942E-DD293B7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40대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절반 수준을 유지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046CDA-0448-4D6F-80B9-441479C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F085A5-87F7-4BA9-B684-F0F9425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30.7%</a:t>
            </a:r>
            <a:endParaRPr sz="4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A2FB15-5661-4EF3-B139-F0A7139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50대 이상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뚜렷하게 낮아진다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61BDA2-1B9F-41BE-84A9-1E1DD00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수업 안내: 부업을 하지 않는 이유 1위는 “무엇을 해야 할지 몰라서”(54.3%)였다. 장벽은 시간이 아니라 방향이다. (뉴워커, 2025년 11월 직장인 728명 조사)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F399B8-9C91-420B-B0ED-22BE09A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3067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EDBC5E-F469-4595-9923-3CC97112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3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1333CF-9A03-4678-AEC4-42861C9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호기심을 가로막는 것은 시간이 아니다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7BF620-93E3-4FDF-8C81-CEFB0B6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fd86910a2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800493-3553-4477-99C5-AF13B42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“시간이 없다”</a:t>
            </a:r>
            <a:endParaRPr sz="15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837D00-811B-434B-8427-B8139A0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자기계발의 가장 큰 어려움 1위는 시간 부족(39.1%)이었다.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5EE6CF6-8881-4FAB-8BD7-78708BC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17a2902af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16E76EE-4101-403F-8AF1-256D2E6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이미 쓰고 있다</a:t>
            </a:r>
            <a:endParaRPr sz="15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D472462-39B3-4F40-8B0A-45F9204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다른 조사에서는 50.4%가 업무시간에도 자기계발을 한다고 답했다.</a:t>
            </a:r>
            <a:endParaRPr sz="12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7B0F470-E26F-43D1-A43D-D220F05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3948d116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36C3734-8E59-4321-81D1-66D906B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“잘 못할 것 같다”</a:t>
            </a:r>
            <a:endParaRPr sz="15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0F0EDD0-35A1-4EF6-B1EC-433341F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8년, 10년을 쌓은 사람에게 초보자로 돌아가는 느낌은 부담스럽다.</a:t>
            </a:r>
            <a:endParaRPr sz="12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44CA1D1-B22F-4B40-A5F6-481470A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b4f6b2a3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A13F6FE-3E5F-4E38-BD94-7D2DC7FE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“이 나이에 새삼스럽게”</a:t>
            </a:r>
            <a:endParaRPr sz="155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EC82AF32-161B-42CF-9D75-36146AD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질문 하나와 작은 시도에는 늦고 빠름의 기준이 적용될 여지가 없다.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536EE1B-4206-4DA4-AED9-A99ADC8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74920"/>
            <a:ext cx="923544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10EAE21-3CF3-48C6-9530-B4180A0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074920"/>
            <a:ext cx="8869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필요한 것은 새 시간이 아니라, 이미 쓰는 시간의 일부를 “지금 하는 일과 무관한 것”에 내어주는 일이다.</a:t>
            </a:r>
            <a:endParaRPr sz="17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F94397B-1A4D-4C10-8862-3ED9A9B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1580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B6DEC-28F1-4659-8D91-E3049B6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수업 도구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4B7956-6A86-4170-91CC-C073711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정보탐색 인터뷰와 호기심의 순환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76CD4D-09E1-44C8-ACDA-F93B0AD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219154-303D-4DBD-92D5-B61266E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30대에 맞게 옮긴 질문 4가지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930E6F-12F4-4FE2-B415-9CD97B7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16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F3AD51-E99E-4942-9C63-99C8FC7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8716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그 일에서 가장 예상 밖이었던 것은?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6FD8764-F523-41D2-97EB-F2CE0F4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2724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18DF9C-9B07-4DD9-B7C3-14A828C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2724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시작 전에 알았더라면 좋았을 것은?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8B2E5DB-ACC0-4FE7-8307-B850F41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6732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F784F6-758C-4C14-A4BB-8A7C2AC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6732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이 분야로 옮긴 사람에게 자주 하는 조언은?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ACA021-E0C5-441F-B5FD-D49A11F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355266-9351-47F2-A07B-E85F08F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0740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요즘 그 일에서 시간을 가장 많이 쓰는 곳은?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682B75-9555-4E32-BECA-664F255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5780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05353B"/>
          </a:solidFill>
        </p:spPr>
        <p:txBody xmlns:a="http://schemas.openxmlformats.org/drawingml/2006/main">
          <a:bodyPr/>
          <a:p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4BA188-BC57-458C-969C-464E295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6596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호기심의 순환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345465-C1DD-47E3-9471-AAFA6A5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질문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07C550-DEF6-41E9-94B4-B07F359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716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“이건 정확히 뭐지?”가 떠오른다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8736CF-F74A-45A6-9D46-3A13550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2783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대화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50DE7F-48F3-4D10-8A85-1C81EDA2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440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가볍게 물어본다 (30분 안팎)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61BD28-6764-4F12-AC72-436EDB9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시도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D097A3-85F3-49E5-BED7-A130F2B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164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작게 해보고 새 질문을 얻는다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6C885F-A147-418B-89F0-CCBBC83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7A10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377cdec6f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6811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61A3C3C-0C9F-46A5-AC1B-4F7B6063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57800"/>
            <a:ext cx="9966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강의 활용: 1주일 호기심 관찰 로그의 첫 줄을 수업 중에 함께 채운다. 하루 3분이면 충분하다.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868BB2F-DF98-4DF3-89A9-5E78B1A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67549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3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e2a862e14e0e">
            <a:alphaModFix amt="2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320" y="502920"/>
            <a:ext cx="1737360" cy="17373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ACF8C43-C430-41C0-AB9E-610D8FFD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토론 &amp; 활동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E63861-DD27-4510-B97D-55102AC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토론 질문 &amp; 수업 활동</a:t>
            </a:r>
            <a:endParaRPr sz="3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8952B68-94DB-4C15-8078-599CC7A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653BB3-1124-4C06-8783-3848191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51F8620-EC59-44EB-9FC4-66B2F35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7452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최근 “이건 정확히 어떤 일일까”라고 궁금했던 것은 무엇이었는가?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C7F96FD-F01F-4877-84AA-03212554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D01168E-CB73-4AA3-8C0C-B2DD9B5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C7D9FAB-C9B3-40F7-8EFC-980005D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3464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질문을 누구에게, 어떻게 물어볼 수 있을까?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0074F45-0448-401F-A348-AFA6424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106424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E047692-A335-4F03-8872-E5610B47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활동 · 1주일 호기심 관찰 로그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7F6BE8B-CFCD-47B2-8185-4F62F82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332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① 오늘 새롭게 보거나 들은 것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② 그것에 대해 떠오른 질문 한 가지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③ (선택) 누구에게, 어떻게 물어볼 수 있을까</a:t>
            </a:r>
            <a:endParaRPr sz="1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B6B2263-C468-4729-AFC8-FB435FF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4장 · 호기심 — 회사 밖 세계에 다시 마음을 열다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6405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9DB6FC-E44E-4FC6-A647-353FD5C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오늘의 핵심 정리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D041AA-250F-434F-849F-B26809C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4장 요약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35F4CD-743A-4F74-BBE3-524BB6DA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04A6CE-1DF7-46D6-8EBC-F151B1C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5DF84D-FE16-42DC-B538-1961A34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6596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관심은 발견되는 것이 아니라 작은 경험의 반복에서 만들어진다.</a:t>
            </a:r>
            <a:endParaRPr sz="17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1862C0-8A4F-47E3-986D-AB6EFD7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CB09B8-40E4-4481-885B-EDB21A5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7712F6-B444-4A2B-A804-5714299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번아웃의 냉소는 흥미를 옅게 만들지만, 작은 질문이 스위치를 다시 켠다.</a:t>
            </a:r>
            <a:endParaRPr sz="17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94807AB-C7F9-49EA-933A-F451C45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97243D-8973-4EE7-8CFC-456120E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3DF086C-8C46-45B4-B3CB-F712F81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호기심은 질문 → 대화 → 작은 시도 → 새로운 질문의 순환으로 자란다.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10A7B4-5349-429D-B088-FEC1EBE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74980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B44A0D-85EB-44EA-A09D-BD3EB84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463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다음 시간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A3CF52-E327-40CB-A6F4-17F9635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858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5장. 인내심 — 전환은 한 번에 오지 않는다</a:t>
            </a:r>
            <a:endParaRPr sz="2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7cbe9a2f2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50749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E410D7C-4350-4644-B57E-85CF35B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· Career Transition Lab</a:t>
            </a:r>
            <a:endParaRPr sz="11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강의자료 문의: lswon@hansung.ac.kr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433108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0</ap:Slides>
  <ap:Notes>0</ap:Notes>
  <ap:HiddenSlides>0</ap:HiddenSlides>
  <ap:SharedDoc>false</ap:SharedDoc>
  <ap:DocSecurity>0</ap:DocSecurity>
  <ap:Company>Career Transition Lab by Lee Seung Won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이승원</dc:creator>
  <lastModifiedBy>이승원</lastModifiedBy>
  <dc:title>번아웃 이후, 다시 그리는 커리어 · 4장 호기심 — 회사 밖 세계에 다시 마음을 열다</dc:title>
  <dcterms:created xsi:type="dcterms:W3CDTF">2026-09-22T07:59:38.6980000Z</dcterms:created>
  <dcterms:modified xsi:type="dcterms:W3CDTF">2026-09-22T07:59:38.6980000Z</dcterms:modified>
</coreProperties>
</file>
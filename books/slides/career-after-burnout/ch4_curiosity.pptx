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20bddc6bec7b491d" Type="http://schemas.openxmlformats.org/officeDocument/2006/relationships/officeDocument" Target="ppt/presentation.xml"/><Relationship Id="R3d46e846bad84988" Type="http://schemas.openxmlformats.org/package/2006/relationships/metadata/core-properties" Target="docProps/core.xml"/><Relationship Id="Rcacdd4b3fa9f43e1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cdd4722fa1a47a0"/>
  </p:sldMasterIdLst>
  <p:notesMasterIdLst>
    <p:notesMasterId xmlns:r="http://schemas.openxmlformats.org/officeDocument/2006/relationships" r:id="R20398ed5a1514a18"/>
  </p:notesMasterIdLst>
  <p:sldIdLst>
    <p:sldId xmlns:r="http://schemas.openxmlformats.org/officeDocument/2006/relationships" id="256" r:id="Rc0a5299ff2794177"/>
    <p:sldId xmlns:r="http://schemas.openxmlformats.org/officeDocument/2006/relationships" id="257" r:id="Rfdcb1c3d51b745cc"/>
    <p:sldId xmlns:r="http://schemas.openxmlformats.org/officeDocument/2006/relationships" id="258" r:id="Raf349b98a8ce41c6"/>
    <p:sldId xmlns:r="http://schemas.openxmlformats.org/officeDocument/2006/relationships" id="259" r:id="R1e79bff4e2e74493"/>
    <p:sldId xmlns:r="http://schemas.openxmlformats.org/officeDocument/2006/relationships" id="260" r:id="R4b4047e3f3bb4a60"/>
    <p:sldId xmlns:r="http://schemas.openxmlformats.org/officeDocument/2006/relationships" id="261" r:id="R0423dbf380c245de"/>
    <p:sldId xmlns:r="http://schemas.openxmlformats.org/officeDocument/2006/relationships" id="262" r:id="Rfeb93bee471640fe"/>
    <p:sldId xmlns:r="http://schemas.openxmlformats.org/officeDocument/2006/relationships" id="263" r:id="R0474f84c4f014bd6"/>
    <p:sldId xmlns:r="http://schemas.openxmlformats.org/officeDocument/2006/relationships" id="264" r:id="Rb4a1947829774fb2"/>
    <p:sldId xmlns:r="http://schemas.openxmlformats.org/officeDocument/2006/relationships" id="265" r:id="R6f196dc875d6475f"/>
  </p:sldIdLst>
  <p:sldSz cx="12191695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0423dbf380c245de" Type="http://schemas.openxmlformats.org/officeDocument/2006/relationships/slide" Target="slides/slide6.xml"/><Relationship Id="R0474f84c4f014bd6" Type="http://schemas.openxmlformats.org/officeDocument/2006/relationships/slide" Target="slides/slide8.xml"/><Relationship Id="R1e79bff4e2e74493" Type="http://schemas.openxmlformats.org/officeDocument/2006/relationships/slide" Target="slides/slide4.xml"/><Relationship Id="R20398ed5a1514a18" Type="http://schemas.openxmlformats.org/officeDocument/2006/relationships/notesMaster" Target="notesMasters/notesMaster1.xml"/><Relationship Id="R33cb3dd3295c461e" Type="http://schemas.openxmlformats.org/officeDocument/2006/relationships/theme" Target="theme/theme1.xml"/><Relationship Id="R4b4047e3f3bb4a60" Type="http://schemas.openxmlformats.org/officeDocument/2006/relationships/slide" Target="slides/slide5.xml"/><Relationship Id="R4cdd4722fa1a47a0" Type="http://schemas.openxmlformats.org/officeDocument/2006/relationships/slideMaster" Target="slideMasters/slideMaster1.xml"/><Relationship Id="R6f196dc875d6475f" Type="http://schemas.openxmlformats.org/officeDocument/2006/relationships/slide" Target="slides/slide10.xml"/><Relationship Id="Raf349b98a8ce41c6" Type="http://schemas.openxmlformats.org/officeDocument/2006/relationships/slide" Target="slides/slide3.xml"/><Relationship Id="Rb4a1947829774fb2" Type="http://schemas.openxmlformats.org/officeDocument/2006/relationships/slide" Target="slides/slide9.xml"/><Relationship Id="Rc0a5299ff2794177" Type="http://schemas.openxmlformats.org/officeDocument/2006/relationships/slide" Target="slides/slide1.xml"/><Relationship Id="Rd5b76d55ad134b1d" Type="http://schemas.openxmlformats.org/officeDocument/2006/relationships/presProps" Target="presProps.xml"/><Relationship Id="Red109daf720d4e1e" Type="http://schemas.openxmlformats.org/officeDocument/2006/relationships/viewProps" Target="viewProps.xml"/><Relationship Id="Rf20aacd6fe8f40df" Type="http://schemas.openxmlformats.org/officeDocument/2006/relationships/tableStyles" Target="tableStyles.xml"/><Relationship Id="Rfdcb1c3d51b745cc" Type="http://schemas.openxmlformats.org/officeDocument/2006/relationships/slide" Target="slides/slide2.xml"/><Relationship Id="Rfeb93bee471640fe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6c1774186f4243ef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02e6c18c6940489d" Type="http://schemas.openxmlformats.org/officeDocument/2006/relationships/notesMaster" Target="../notesMasters/notesMaster1.xml"/><Relationship Id="Rfb676fc2f69743e0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1d15c4d837764fea" Type="http://schemas.openxmlformats.org/officeDocument/2006/relationships/notesMaster" Target="../notesMasters/notesMaster1.xml"/><Relationship Id="R5a84afd16c0d4668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53d6126656804a71" Type="http://schemas.openxmlformats.org/officeDocument/2006/relationships/slide" Target="../slides/slide3.xml"/><Relationship Id="R608b82a50cae4055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02dd37e0a23c4f74" Type="http://schemas.openxmlformats.org/officeDocument/2006/relationships/slide" Target="../slides/slide4.xml"/><Relationship Id="R2b66d17cdc394073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0f529ebc216742a8" Type="http://schemas.openxmlformats.org/officeDocument/2006/relationships/notesMaster" Target="../notesMasters/notesMaster1.xml"/><Relationship Id="R63296e39e4ab4c55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b7894c88ff8e4bc4" Type="http://schemas.openxmlformats.org/officeDocument/2006/relationships/slide" Target="../slides/slide6.xml"/><Relationship Id="Rf081f9cf9bb842ed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b08f985a2c6c4479" Type="http://schemas.openxmlformats.org/officeDocument/2006/relationships/notesMaster" Target="../notesMasters/notesMaster1.xml"/><Relationship Id="Rfb38584feaca437f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24b53912eaa04fe9" Type="http://schemas.openxmlformats.org/officeDocument/2006/relationships/notesMaster" Target="../notesMasters/notesMaster1.xml"/><Relationship Id="Rba7f6e64724748f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6107ac7125ac461c" Type="http://schemas.openxmlformats.org/officeDocument/2006/relationships/slide" Target="../slides/slide9.xml"/><Relationship Id="R98b9e936809242e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8ea3aa92970f4ed6" Type="http://schemas.openxmlformats.org/officeDocument/2006/relationships/slide" Target="../slides/slide10.xml"/><Relationship Id="Rf101e7cda8d54caa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번아웃 이후, 다시 그리는 커리어 2장 강의자료. 이승원 저서 2장에 근거한 교강사용 미니 렉처. 1/10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번아웃 이후, 다시 그리는 커리어 2장 강의자료. 이승원 저서 2장에 근거한 교강사용 미니 렉처. 2/10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번아웃 이후, 다시 그리는 커리어 2장 강의자료. 이승원 저서 2장에 근거한 교강사용 미니 렉처. 3/10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번아웃 이후, 다시 그리는 커리어 2장 강의자료. 이승원 저서 2장에 근거한 교강사용 미니 렉처. 4/10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번아웃 이후, 다시 그리는 커리어 2장 강의자료. 이승원 저서 2장에 근거한 교강사용 미니 렉처. 5/10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번아웃 이후, 다시 그리는 커리어 2장 강의자료. 이승원 저서 2장에 근거한 교강사용 미니 렉처. 6/10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번아웃 이후, 다시 그리는 커리어 2장 강의자료. 이승원 저서 2장에 근거한 교강사용 미니 렉처. 7/10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번아웃 이후, 다시 그리는 커리어 2장 강의자료. 이승원 저서 2장에 근거한 교강사용 미니 렉처. 8/10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번아웃 이후, 다시 그리는 커리어 2장 강의자료. 이승원 저서 2장에 근거한 교강사용 미니 렉처. 9/10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번아웃 이후, 다시 그리는 커리어 2장 강의자료. 이승원 저서 2장에 근거한 교강사용 미니 렉처. 10/10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10570b0eafea4013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55bcdf81dcee48f8" Type="http://schemas.openxmlformats.org/officeDocument/2006/relationships/theme" Target="theme/theme2.xml"/><Relationship Id="R9cc13dd0c16943b1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cc13dd0c16943b1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0552d6b2efb40f1" Type="http://schemas.openxmlformats.org/officeDocument/2006/relationships/slideLayout" Target="../slideLayouts/slideLayout1.xml"/><Relationship Id="R1002737eff494fb2" Type="http://schemas.openxmlformats.org/officeDocument/2006/relationships/image" Target="../media/image.png"/><Relationship Id="R2db82b5532764351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1952f82af2094d87" Type="http://schemas.openxmlformats.org/officeDocument/2006/relationships/slideLayout" Target="../slideLayouts/slideLayout1.xml"/><Relationship Id="R8ae34b86161f4b90" Type="http://schemas.openxmlformats.org/officeDocument/2006/relationships/image" Target="../media/image2.png"/><Relationship Id="R9d9ca5a487cd4a07" Type="http://schemas.openxmlformats.org/officeDocument/2006/relationships/notesSlide" Target="../notesSlides/notesSlide2.xml"/><Relationship Id="Rab9c7db0df504cbe" Type="http://schemas.openxmlformats.org/officeDocument/2006/relationships/image" Target="../media/image4.png"/><Relationship Id="Rc47f2b2d17574a75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bf6c8028ef75470a" Type="http://schemas.openxmlformats.org/officeDocument/2006/relationships/slideLayout" Target="../slideLayouts/slideLayout1.xml"/><Relationship Id="Rd18b20ecdbca438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412a4c3e7558476c" Type="http://schemas.openxmlformats.org/officeDocument/2006/relationships/image" Target="../media/image5.png"/><Relationship Id="R55616dbe0dba46f3" Type="http://schemas.openxmlformats.org/officeDocument/2006/relationships/image" Target="../media/image6.png"/><Relationship Id="Ra734bf1b4a5d4d7b" Type="http://schemas.openxmlformats.org/officeDocument/2006/relationships/slideLayout" Target="../slideLayouts/slideLayout1.xml"/><Relationship Id="Rbaad4dd27ead4cac" Type="http://schemas.openxmlformats.org/officeDocument/2006/relationships/image" Target="../media/image7.png"/><Relationship Id="Rd137de157c00415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4a40651ad32b4e20" Type="http://schemas.openxmlformats.org/officeDocument/2006/relationships/notesSlide" Target="../notesSlides/notesSlide5.xml"/><Relationship Id="Re63014edcda0470a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8416e28812de441c" Type="http://schemas.openxmlformats.org/officeDocument/2006/relationships/notesSlide" Target="../notesSlides/notesSlide6.xml"/><Relationship Id="Rbefbbba9147141f7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0427b4f6b2a343f6" Type="http://schemas.openxmlformats.org/officeDocument/2006/relationships/image" Target="../media/image11.png"/><Relationship Id="R30d17a2902af491d" Type="http://schemas.openxmlformats.org/officeDocument/2006/relationships/image" Target="../media/image9.png"/><Relationship Id="R3f6e3948d1164313" Type="http://schemas.openxmlformats.org/officeDocument/2006/relationships/image" Target="../media/image10.png"/><Relationship Id="R472c37fbba5841bb" Type="http://schemas.openxmlformats.org/officeDocument/2006/relationships/slideLayout" Target="../slideLayouts/slideLayout1.xml"/><Relationship Id="Rb6a642df99a9486e" Type="http://schemas.openxmlformats.org/officeDocument/2006/relationships/notesSlide" Target="../notesSlides/notesSlide7.xml"/><Relationship Id="Re86fd86910a248c4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a5aceb0b6da34461" Type="http://schemas.openxmlformats.org/officeDocument/2006/relationships/notesSlide" Target="../notesSlides/notesSlide8.xml"/><Relationship Id="Rb89377cdec6f46a2" Type="http://schemas.openxmlformats.org/officeDocument/2006/relationships/image" Target="../media/image12.png"/><Relationship Id="Rc7739a9c043f4bbb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2623370a99ee4a38" Type="http://schemas.openxmlformats.org/officeDocument/2006/relationships/notesSlide" Target="../notesSlides/notesSlide9.xml"/><Relationship Id="R6ec1c6c5aca54a78" Type="http://schemas.openxmlformats.org/officeDocument/2006/relationships/slideLayout" Target="../slideLayouts/slideLayout1.xml"/><Relationship Id="R9f3de2a862e14e0e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1337cbe9a2f24457" Type="http://schemas.openxmlformats.org/officeDocument/2006/relationships/image" Target="../media/image14.png"/><Relationship Id="R71bc74611316496f" Type="http://schemas.openxmlformats.org/officeDocument/2006/relationships/notesSlide" Target="../notesSlides/notesSlide10.xml"/><Relationship Id="Re580ada74a1c4fc2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32B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02737eff494fb2">
            <a:alphaModFix amt="12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778240" y="1463040"/>
            <a:ext cx="3108960" cy="310896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0970B06D-C1DE-40B6-8E18-06DAA7AD3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17320"/>
            <a:ext cx="9144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 spc="200">
                <a:solidFill>
                  <a:srgbClr val="C07A10"/>
                </a:solidFill>
                <a:latin typeface="Calibri"/>
                <a:ea typeface="Calibri"/>
                <a:cs typeface="Calibri"/>
              </a:rPr>
              <a:t>CAREER TRANSITION LAB · VOL.2 강의자료</a:t>
            </a:r>
            <a:endParaRPr sz="14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A48F5CE3-EBE2-4823-85EB-F74829DED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65960"/>
            <a:ext cx="9601200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4200" b="1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</a:rPr>
              <a:t>번아웃 이후, 다시 그리는 커리어</a:t>
            </a:r>
            <a:endParaRPr sz="42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9755B0F0-0A6C-4840-BBB4-86A3075D0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383280"/>
            <a:ext cx="91440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>
                <a:solidFill>
                  <a:srgbClr val="C4D8D5"/>
                </a:solidFill>
                <a:latin typeface="Calibri"/>
                <a:ea typeface="Calibri"/>
                <a:cs typeface="Calibri"/>
              </a:rPr>
              <a:t>4장 · 호기심 — 회사 밖 세계에 다시 마음을 열다</a:t>
            </a:r>
            <a:endParaRPr sz="2200"/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90176E0F-43DE-4C46-8F99-5F49116DE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212080"/>
            <a:ext cx="3749040" cy="566928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05353B"/>
          </a:solidFill>
          <a:ln xmlns:a="http://schemas.openxmlformats.org/drawingml/2006/main" w="12700">
            <a:solidFill>
              <a:srgbClr val="2E5A57"/>
            </a:solidFill>
            <a:prstDash val="solid"/>
          </a:ln>
        </p:spPr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2C7EC6D1-23AD-4AB7-AFF8-3F3F0D2B1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212080"/>
            <a:ext cx="37490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EAF2F1"/>
                </a:solidFill>
                <a:latin typeface="Calibri"/>
                <a:ea typeface="Calibri"/>
                <a:cs typeface="Calibri"/>
              </a:rPr>
              <a:t>교강사용 미니 렉처 · 8~10분 분량</a:t>
            </a:r>
            <a:endParaRPr sz="13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D34CAA8A-F949-4914-B929-9B62FCE9B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172200"/>
            <a:ext cx="7315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8FA8A4"/>
                </a:solidFill>
                <a:latin typeface="Calibri"/>
                <a:ea typeface="Calibri"/>
                <a:cs typeface="Calibri"/>
              </a:rPr>
              <a:t>이승원 | LEE SEUNG WON  ·  Career Transition Lab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10176256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B1EFD66-E044-4754-9A21-BF1D8A0AF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1480"/>
            <a:ext cx="7315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200">
                <a:solidFill>
                  <a:srgbClr val="C07A10"/>
                </a:solidFill>
                <a:latin typeface="Calibri"/>
                <a:ea typeface="Calibri"/>
                <a:cs typeface="Calibri"/>
              </a:rPr>
              <a:t>학습 목표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8B40491-6EBC-4F50-AB81-A0DCCBE4E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77240"/>
            <a:ext cx="100584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05353B"/>
                </a:solidFill>
                <a:latin typeface="Century Schoolbook"/>
                <a:ea typeface="Century Schoolbook"/>
                <a:cs typeface="Century Schoolbook"/>
              </a:rPr>
              <a:t>이 장에서 다룰 것</a:t>
            </a:r>
            <a:endParaRPr sz="34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768427C-6119-47D2-A52D-4BCC55AB5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868680" cy="868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1"/>
          </a:solidFill>
        </p:spPr>
        <p:txBody xmlns:a="http://schemas.openxmlformats.org/drawingml/2006/main">
          <a:bodyPr/>
          <a:p/>
        </p:txBody>
      </p:sp>
      <p:pic>
        <p:nvPicPr>
          <p:cNvPr id="2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e34b86161f4b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65937" y="2100377"/>
            <a:ext cx="416966" cy="416966"/>
          </a:xfrm>
          <a:prstGeom xmlns:a="http://schemas.openxmlformats.org/drawingml/2006/main" prst="rect">
            <a:avLst/>
          </a:prstGeom>
        </p:spPr>
      </p:pic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AEB95000-DD12-42B4-84D3-5F0295DD2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3080" y="1856232"/>
            <a:ext cx="89611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05353B"/>
                </a:solidFill>
                <a:latin typeface="Calibri"/>
                <a:ea typeface="Calibri"/>
                <a:cs typeface="Calibri"/>
              </a:rPr>
              <a:t>관심은 발견이 아니라 만들어지는 것임을 이해하기</a:t>
            </a:r>
            <a:endParaRPr sz="190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C578D756-8C85-4C47-A4F7-E68A7D764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3080" y="2295144"/>
            <a:ext cx="89611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“진짜 좋아하는 일”을 찾아내야 한다는 부담을 내려놓는다.</a:t>
            </a:r>
            <a:endParaRPr sz="1400"/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A6A4FE08-9799-4B2A-9F5F-0E8FEAF0A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291840"/>
            <a:ext cx="868680" cy="868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1"/>
          </a:solidFill>
        </p:spPr>
        <p:txBody xmlns:a="http://schemas.openxmlformats.org/drawingml/2006/main">
          <a:bodyPr/>
          <a:p/>
        </p:txBody>
      </p:sp>
      <p:pic>
        <p:nvPicPr>
          <p:cNvPr id="27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7f2b2d17574a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65937" y="3517697"/>
            <a:ext cx="416966" cy="416966"/>
          </a:xfrm>
          <a:prstGeom xmlns:a="http://schemas.openxmlformats.org/drawingml/2006/main" prst="rect">
            <a:avLst/>
          </a:prstGeom>
        </p:spPr>
      </p:pic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A8C37F0E-5EDB-4EB9-9762-2F4ACF62F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3080" y="3273552"/>
            <a:ext cx="89611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05353B"/>
                </a:solidFill>
                <a:latin typeface="Calibri"/>
                <a:ea typeface="Calibri"/>
                <a:cs typeface="Calibri"/>
              </a:rPr>
              <a:t>번아웃의 냉소와 호기심이 같은 자리에 있음을 확인하기</a:t>
            </a:r>
            <a:endParaRPr sz="1900"/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377936E8-95F8-4B46-A589-8807006DC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3080" y="3712464"/>
            <a:ext cx="89611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흥미는 사라진 것이 아니라 잠시 꺼져 있는 상태에 가깝다.</a:t>
            </a:r>
            <a:endParaRPr sz="1400"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6320E09B-E58A-43FC-AD4C-3D20304A0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709160"/>
            <a:ext cx="868680" cy="868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1"/>
          </a:solidFill>
        </p:spPr>
        <p:txBody xmlns:a="http://schemas.openxmlformats.org/drawingml/2006/main">
          <a:bodyPr/>
          <a:p/>
        </p:txBody>
      </p:sp>
      <p:pic>
        <p:nvPicPr>
          <p:cNvPr id="3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9c7db0df504c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65937" y="4935017"/>
            <a:ext cx="416966" cy="416966"/>
          </a:xfrm>
          <a:prstGeom xmlns:a="http://schemas.openxmlformats.org/drawingml/2006/main" prst="rect">
            <a:avLst/>
          </a:prstGeom>
        </p:spPr>
      </p:pic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7A61EB8F-D165-495C-9710-9CFA2DAA9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3080" y="4690872"/>
            <a:ext cx="89611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05353B"/>
                </a:solidFill>
                <a:latin typeface="Calibri"/>
                <a:ea typeface="Calibri"/>
                <a:cs typeface="Calibri"/>
              </a:rPr>
              <a:t>정보탐색 인터뷰와 작은 시도를 실천으로 옮기기</a:t>
            </a:r>
            <a:endParaRPr sz="1900"/>
          </a:p>
        </p:txBody>
      </p:sp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40E2F9CF-7656-4786-9B19-F4D37A69E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3080" y="5129784"/>
            <a:ext cx="89611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질문 하나에서 시작하는 호기심의 순환을 직접 돌려본다.</a:t>
            </a:r>
            <a:endParaRPr sz="1400"/>
          </a:p>
        </p:txBody>
      </p:sp>
      <p:sp>
        <p:nvSpPr>
          <p:cNvPr id="16" name="Text 11">
            <a:extLst xmlns:a="http://schemas.openxmlformats.org/drawingml/2006/main">
              <a:ext uri="{FF2B5EF4-FFF2-40B4-BE49-F238E27FC236}">
                <a16:creationId xmlns:a16="http://schemas.microsoft.com/office/drawing/2014/main" id="{249B6D03-CB5D-41EA-8A08-7CBDAC110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355080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4장 · 호기심 — 회사 밖 세계에 다시 마음을 열다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205330129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C01BD35-E1B0-4CC3-8D80-F613CFB31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1480"/>
            <a:ext cx="7315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200">
                <a:solidFill>
                  <a:srgbClr val="C07A10"/>
                </a:solidFill>
                <a:latin typeface="Calibri"/>
                <a:ea typeface="Calibri"/>
                <a:cs typeface="Calibri"/>
              </a:rPr>
              <a:t>오프닝 사례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EDE81B1-C6DF-463B-88E3-CAD88E53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77240"/>
            <a:ext cx="105156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5353B"/>
                </a:solidFill>
                <a:latin typeface="Century Schoolbook"/>
                <a:ea typeface="Century Schoolbook"/>
                <a:cs typeface="Century Schoolbook"/>
              </a:rPr>
              <a:t>댓글 한 줄 앞에서 멈춘 순간</a:t>
            </a:r>
            <a:endParaRPr sz="30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8417899-8047-4619-97C7-9EEF4EE7A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83080"/>
            <a:ext cx="6949440" cy="416052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05353B"/>
          </a:solidFill>
          <a:effectLst xmlns:a="http://schemas.openxmlformats.org/drawingml/2006/main">
            <a:outerShdw blurRad="152400" dist="50800" dir="5400000" sx="100000" sy="100000" kx="0" ky="0" algn="bl" rotWithShape="0">
              <a:srgbClr val="000000">
                <a:alpha val="25000"/>
              </a:srgbClr>
            </a:outerShdw>
          </a:effectLst>
        </p:spPr>
        <p:txBody xmlns:a="http://schemas.openxmlformats.org/drawingml/2006/main">
          <a:bodyPr/>
          <a:p/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0093729-6FF3-4177-B29C-9E58C5EF8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57400"/>
            <a:ext cx="6217920" cy="3611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28000"/>
              </a:lnSpc>
              <a:buNone/>
            </a:pPr>
            <a:r>
              <a:rPr sz="155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개발팀 8년차 박재현은 퇴근길 지하철에서 커뮤니티에 짧은 글을 하나 올렸다.</a:t>
            </a:r>
            <a:endParaRPr sz="1550"/>
          </a:p>
          <a:p xmlns:a="http://schemas.openxmlformats.org/drawingml/2006/main">
            <a:pPr marL="0" indent="0">
              <a:lnSpc>
                <a:spcPct val="128000"/>
              </a:lnSpc>
              <a:buNone/>
            </a:pPr>
            <a:r>
              <a:t/>
            </a:r>
            <a:endParaRPr sz="1550"/>
          </a:p>
          <a:p xmlns:a="http://schemas.openxmlformats.org/drawingml/2006/main">
            <a:pPr marL="0" indent="0">
              <a:lnSpc>
                <a:spcPct val="128000"/>
              </a:lnSpc>
              <a:buNone/>
            </a:pPr>
            <a:r>
              <a:rPr sz="155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다음 날 아침, 낯선 계정의 댓글 하나가 달려 있었다.</a:t>
            </a:r>
            <a:endParaRPr sz="1550"/>
          </a:p>
          <a:p xmlns:a="http://schemas.openxmlformats.org/drawingml/2006/main">
            <a:pPr marL="0" indent="0">
              <a:lnSpc>
                <a:spcPct val="128000"/>
              </a:lnSpc>
              <a:buNone/>
            </a:pPr>
            <a:r>
              <a:t/>
            </a:r>
            <a:endParaRPr sz="1550"/>
          </a:p>
          <a:p xmlns:a="http://schemas.openxmlformats.org/drawingml/2006/main">
            <a:pPr marL="0" indent="0">
              <a:lnSpc>
                <a:spcPct val="128000"/>
              </a:lnSpc>
              <a:buNone/>
            </a:pPr>
            <a:r>
              <a:rPr sz="155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“저도 비슷한 고민 했었는데요, 저는 데이터 분석 쪽으로 옮기면서 좀 달라지더라고요.”</a:t>
            </a:r>
            <a:endParaRPr sz="1550"/>
          </a:p>
          <a:p xmlns:a="http://schemas.openxmlformats.org/drawingml/2006/main">
            <a:pPr marL="0" indent="0">
              <a:lnSpc>
                <a:spcPct val="128000"/>
              </a:lnSpc>
              <a:buNone/>
            </a:pPr>
            <a:r>
              <a:t/>
            </a:r>
            <a:endParaRPr sz="1550"/>
          </a:p>
          <a:p xmlns:a="http://schemas.openxmlformats.org/drawingml/2006/main">
            <a:pPr marL="0" indent="0">
              <a:lnSpc>
                <a:spcPct val="128000"/>
              </a:lnSpc>
              <a:buNone/>
            </a:pPr>
            <a:r>
              <a:rPr sz="155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“데이터 분석… 그게 정확히 어떤 일이지?”</a:t>
            </a:r>
            <a:endParaRPr sz="155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F756537C-4BD6-4285-BB49-FBCE56CB8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80" y="1783080"/>
            <a:ext cx="3886200" cy="123444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EAF2F1"/>
          </a:solidFill>
        </p:spPr>
        <p:txBody xmlns:a="http://schemas.openxmlformats.org/drawingml/2006/main">
          <a:bodyPr/>
          <a:p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111A41E8-52A0-4829-8C08-F944D7A79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1965960"/>
            <a:ext cx="3474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5353B"/>
                </a:solidFill>
                <a:latin typeface="Calibri"/>
                <a:ea typeface="Calibri"/>
                <a:cs typeface="Calibri"/>
              </a:rPr>
              <a:t>개발팀 8년차 · 박재현</a:t>
            </a:r>
            <a:endParaRPr sz="13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E7B8C7A-CD42-4E03-AB14-0F02697E6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2331720"/>
            <a:ext cx="3474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i="1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“누군가의 일을 궁금해한 게 언제였더라.”</a:t>
            </a:r>
            <a:endParaRPr sz="135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393B74A4-DEDD-4725-B47B-F52ACA6B2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80" y="3246120"/>
            <a:ext cx="3886200" cy="269748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C07A10"/>
          </a:solidFill>
        </p:spPr>
        <p:txBody xmlns:a="http://schemas.openxmlformats.org/drawingml/2006/main">
          <a:bodyPr/>
          <a:p/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174D0BB0-76D0-4F97-BEFC-52215AC95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456432"/>
            <a:ext cx="33832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E9C7"/>
                </a:solidFill>
                <a:latin typeface="Calibri"/>
                <a:ea typeface="Calibri"/>
                <a:cs typeface="Calibri"/>
              </a:rPr>
              <a:t>생각해 볼 질문</a:t>
            </a:r>
            <a:endParaRPr sz="13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B87E35AF-3790-4A75-932E-CAA40226F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840480"/>
            <a:ext cx="3383280" cy="1920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20000"/>
              </a:lnSpc>
              <a:buNone/>
            </a:pPr>
            <a:r>
              <a:rPr sz="1900" b="1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</a:rPr>
              <a:t>최근 “이건 뭐지?”라고</a:t>
            </a:r>
            <a:endParaRPr sz="1900"/>
          </a:p>
          <a:p xmlns:a="http://schemas.openxmlformats.org/drawingml/2006/main">
            <a:pPr marL="0" indent="0">
              <a:lnSpc>
                <a:spcPct val="120000"/>
              </a:lnSpc>
              <a:buNone/>
            </a:pPr>
            <a:r>
              <a:rPr sz="1900" b="1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</a:rPr>
              <a:t>잠깐 멈칫한 순간이 있었는가?</a:t>
            </a:r>
            <a:endParaRPr sz="19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B16A042-1A1B-4747-9E06-066EE75FE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355080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4장 · 호기심 — 회사 밖 세계에 다시 마음을 열다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08155275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9843454-0289-4628-BA56-F3B80B500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1480"/>
            <a:ext cx="7315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200">
                <a:solidFill>
                  <a:srgbClr val="C07A10"/>
                </a:solidFill>
                <a:latin typeface="Calibri"/>
                <a:ea typeface="Calibri"/>
                <a:cs typeface="Calibri"/>
              </a:rPr>
              <a:t>핵심 개념 1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6A34475-C53D-401D-A70C-F1D4A6A0E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77240"/>
            <a:ext cx="105156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5353B"/>
                </a:solidFill>
                <a:latin typeface="Century Schoolbook"/>
                <a:ea typeface="Century Schoolbook"/>
                <a:cs typeface="Century Schoolbook"/>
              </a:rPr>
              <a:t>관심은 발견이 아니라 만들어진다</a:t>
            </a:r>
            <a:endParaRPr sz="32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07EB299-AEC4-4905-B2C1-8C46F5464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91640"/>
            <a:ext cx="11064240" cy="105156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AF2F1"/>
          </a:solidFill>
        </p:spPr>
        <p:txBody xmlns:a="http://schemas.openxmlformats.org/drawingml/2006/main">
          <a:bodyPr/>
          <a:p/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C5C67860-B275-4384-8CE2-F053C5565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691640"/>
            <a:ext cx="10424160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25000"/>
              </a:lnSpc>
              <a:buNone/>
            </a:pPr>
            <a:r>
              <a:rPr sz="1600" b="1">
                <a:solidFill>
                  <a:srgbClr val="05353B"/>
                </a:solidFill>
                <a:latin typeface="Calibri"/>
                <a:ea typeface="Calibri"/>
                <a:cs typeface="Calibri"/>
              </a:rPr>
              <a:t>흥미는 “이게 얼마나 새로운가”와 “내가 이걸 이해할 수 있는가”라는 두 평가가 함께 작동할 때 생긴다. 그래서 흥미는 좁은 구간에서만 잠깐 켜진다.</a:t>
            </a:r>
            <a:endParaRPr sz="16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580C03C5-D3DF-401B-8D11-A444190A9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063240"/>
            <a:ext cx="3520440" cy="25146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DFD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713AE9A4-DB9D-4151-AAF7-DA2C26F89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1660" y="329184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1"/>
          </a:solidFill>
        </p:spPr>
        <p:txBody xmlns:a="http://schemas.openxmlformats.org/drawingml/2006/main">
          <a:bodyPr/>
          <a:p/>
        </p:txBody>
      </p:sp>
      <p:pic>
        <p:nvPicPr>
          <p:cNvPr id="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2a4c3e7558476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089404" y="3529584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5A3B4B34-8260-445A-83CA-FF6F5B0DF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343400"/>
            <a:ext cx="3154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50" b="1">
                <a:solidFill>
                  <a:srgbClr val="05353B"/>
                </a:solidFill>
                <a:latin typeface="Calibri"/>
                <a:ea typeface="Calibri"/>
                <a:cs typeface="Calibri"/>
              </a:rPr>
              <a:t>너무 낯설면</a:t>
            </a:r>
            <a:endParaRPr sz="165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6134B9A4-9697-4C84-B28A-C99CF1920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828032"/>
            <a:ext cx="306324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20000"/>
              </a:lnSpc>
              <a:buNone/>
            </a:pPr>
            <a:r>
              <a:rPr sz="1250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어디서 손댈지 모른다.</a:t>
            </a:r>
            <a:endParaRPr sz="1250"/>
          </a:p>
          <a:p xmlns:a="http://schemas.openxmlformats.org/drawingml/2006/main">
            <a:pPr marL="0" indent="0" algn="ctr">
              <a:lnSpc>
                <a:spcPct val="120000"/>
              </a:lnSpc>
              <a:buNone/>
            </a:pPr>
            <a:r>
              <a:rPr sz="1250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흥미보다 불안이 앞선다.</a:t>
            </a:r>
            <a:endParaRPr sz="1250"/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EF9DE1E-EB5C-41E1-AC61-CD3CE67CA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063240"/>
            <a:ext cx="3520440" cy="25146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DFD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AA45627C-1F03-4000-A824-70FB2B868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6420" y="329184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1"/>
          </a:solidFill>
        </p:spPr>
        <p:txBody xmlns:a="http://schemas.openxmlformats.org/drawingml/2006/main">
          <a:bodyPr/>
          <a:p/>
        </p:txBody>
      </p:sp>
      <p:pic>
        <p:nvPicPr>
          <p:cNvPr id="37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616dbe0dba46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84164" y="3529584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E23A320F-F243-45F2-B422-3EFF54440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4343400"/>
            <a:ext cx="3154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50" b="1">
                <a:solidFill>
                  <a:srgbClr val="05353B"/>
                </a:solidFill>
                <a:latin typeface="Calibri"/>
                <a:ea typeface="Calibri"/>
                <a:cs typeface="Calibri"/>
              </a:rPr>
              <a:t>너무 익숙하면</a:t>
            </a:r>
            <a:endParaRPr sz="165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95FDC071-15E6-4FAE-AAEF-8998A0D5A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828032"/>
            <a:ext cx="306324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20000"/>
              </a:lnSpc>
              <a:buNone/>
            </a:pPr>
            <a:r>
              <a:rPr sz="1250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더 알아볼 것이 없어 보인다.</a:t>
            </a:r>
            <a:endParaRPr sz="1250"/>
          </a:p>
          <a:p xmlns:a="http://schemas.openxmlformats.org/drawingml/2006/main">
            <a:pPr marL="0" indent="0" algn="ctr">
              <a:lnSpc>
                <a:spcPct val="120000"/>
              </a:lnSpc>
              <a:buNone/>
            </a:pPr>
            <a:r>
              <a:rPr sz="1250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무관심이 자리를 차지한다.</a:t>
            </a:r>
            <a:endParaRPr sz="125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D924992B-BE2C-4313-8F9A-613778418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063240"/>
            <a:ext cx="3520440" cy="25146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DFD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2AD41FE6-B8F0-43B0-8B33-41EAEEBB1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1180" y="329184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1"/>
          </a:solidFill>
        </p:spPr>
        <p:txBody xmlns:a="http://schemas.openxmlformats.org/drawingml/2006/main">
          <a:bodyPr/>
          <a:p/>
        </p:txBody>
      </p:sp>
      <p:pic>
        <p:nvPicPr>
          <p:cNvPr id="42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ad4dd27ead4ca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678924" y="3529584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19" name="Text 14">
            <a:extLst xmlns:a="http://schemas.openxmlformats.org/drawingml/2006/main">
              <a:ext uri="{FF2B5EF4-FFF2-40B4-BE49-F238E27FC236}">
                <a16:creationId xmlns:a16="http://schemas.microsoft.com/office/drawing/2014/main" id="{65F4033A-B6F4-4841-8CFE-43A66ECD3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343400"/>
            <a:ext cx="3154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50" b="1">
                <a:solidFill>
                  <a:srgbClr val="05353B"/>
                </a:solidFill>
                <a:latin typeface="Calibri"/>
                <a:ea typeface="Calibri"/>
                <a:cs typeface="Calibri"/>
              </a:rPr>
              <a:t>그 사이에서</a:t>
            </a:r>
            <a:endParaRPr sz="1650"/>
          </a:p>
        </p:txBody>
      </p:sp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CC7B45D5-C3E1-467B-8EBD-D8D35CDCF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4828032"/>
            <a:ext cx="306324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20000"/>
              </a:lnSpc>
              <a:buNone/>
            </a:pPr>
            <a:r>
              <a:rPr sz="1250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“낯설지만 따라가 볼 만하다”</a:t>
            </a:r>
            <a:endParaRPr sz="1250"/>
          </a:p>
          <a:p xmlns:a="http://schemas.openxmlformats.org/drawingml/2006/main">
            <a:pPr marL="0" indent="0" algn="ctr">
              <a:lnSpc>
                <a:spcPct val="120000"/>
              </a:lnSpc>
              <a:buNone/>
            </a:pPr>
            <a:r>
              <a:rPr sz="1250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그 지점에서 흥미가 켜진다.</a:t>
            </a:r>
            <a:endParaRPr sz="1250"/>
          </a:p>
        </p:txBody>
      </p:sp>
      <p:sp>
        <p:nvSpPr>
          <p:cNvPr id="21" name="Text 16">
            <a:extLst xmlns:a="http://schemas.openxmlformats.org/drawingml/2006/main">
              <a:ext uri="{FF2B5EF4-FFF2-40B4-BE49-F238E27FC236}">
                <a16:creationId xmlns:a16="http://schemas.microsoft.com/office/drawing/2014/main" id="{39A6FB13-87B1-4743-8B7C-B048DC393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806440"/>
            <a:ext cx="110642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출처: Mitchell, Levin &amp; Krumboltz(1999) “관심은 학습을 통해 만들어진다” · Silvia의 흥미 연구.</a:t>
            </a:r>
            <a:endParaRPr sz="1100"/>
          </a:p>
        </p:txBody>
      </p:sp>
      <p:sp>
        <p:nvSpPr>
          <p:cNvPr id="22" name="Text 17">
            <a:extLst xmlns:a="http://schemas.openxmlformats.org/drawingml/2006/main">
              <a:ext uri="{FF2B5EF4-FFF2-40B4-BE49-F238E27FC236}">
                <a16:creationId xmlns:a16="http://schemas.microsoft.com/office/drawing/2014/main" id="{C7616DA6-0312-4B40-A462-C8F2FE9EC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355080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4장 · 호기심 — 회사 밖 세계에 다시 마음을 열다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38637435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AF2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C4FFB62-9DC0-4498-B553-B5C6106A0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1480"/>
            <a:ext cx="7315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200">
                <a:solidFill>
                  <a:srgbClr val="C07A10"/>
                </a:solidFill>
                <a:latin typeface="Calibri"/>
                <a:ea typeface="Calibri"/>
                <a:cs typeface="Calibri"/>
              </a:rPr>
              <a:t>핵심 개념 2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461BFD9-ADCD-4D4E-8399-E4471DB6A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77240"/>
            <a:ext cx="1106424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05353B"/>
                </a:solidFill>
                <a:latin typeface="Century Schoolbook"/>
                <a:ea typeface="Century Schoolbook"/>
                <a:cs typeface="Century Schoolbook"/>
              </a:rPr>
              <a:t>번아웃과 호기심은 같은 자리에서 시작된다</a:t>
            </a:r>
            <a:endParaRPr sz="27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9B0EF5FF-E4B7-4189-AFF2-9CB35052A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828800"/>
            <a:ext cx="5394960" cy="187452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101600" dist="38100" dir="5400000" sx="100000" sy="100000" kx="0" ky="0" algn="bl" rotWithShape="0">
              <a:srgbClr val="000000">
                <a:alpha val="15000"/>
              </a:srgbClr>
            </a:outerShdw>
          </a:effectLst>
        </p:spPr>
        <p:txBody xmlns:a="http://schemas.openxmlformats.org/drawingml/2006/main">
          <a:bodyPr/>
          <a:p/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02A57792-8D03-4C10-93B2-8F22FEF2D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103120"/>
            <a:ext cx="2468880" cy="384048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EAF2F1"/>
          </a:solidFill>
        </p:spPr>
        <p:txBody xmlns:a="http://schemas.openxmlformats.org/drawingml/2006/main">
          <a:bodyPr/>
          <a:p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FA2390FA-A8DD-4415-94F4-20890F948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103120"/>
            <a:ext cx="24688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5353B"/>
                </a:solidFill>
                <a:latin typeface="Calibri"/>
                <a:ea typeface="Calibri"/>
                <a:cs typeface="Calibri"/>
              </a:rPr>
              <a:t>번아웃 경험</a:t>
            </a:r>
            <a:endParaRPr sz="105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FDD30ED7-75E1-414A-A926-18DB0A5AD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578608"/>
            <a:ext cx="47548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05353B"/>
                </a:solidFill>
                <a:latin typeface="Calibri"/>
                <a:ea typeface="Calibri"/>
                <a:cs typeface="Calibri"/>
              </a:rPr>
              <a:t>69.0%</a:t>
            </a:r>
            <a:endParaRPr sz="20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8E64B2E5-5367-466D-B61A-098DFD20E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035808"/>
            <a:ext cx="47548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8000"/>
              </a:lnSpc>
              <a:buNone/>
            </a:pPr>
            <a:r>
              <a:rPr sz="1250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잡코리아가 2024년 6월 직장인 342명에게 물은 결과다.</a:t>
            </a:r>
            <a:endParaRPr sz="125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8CEF88B4-3622-4438-A49F-CBB22CD1A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828800"/>
            <a:ext cx="5394960" cy="187452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101600" dist="38100" dir="5400000" sx="100000" sy="100000" kx="0" ky="0" algn="bl" rotWithShape="0">
              <a:srgbClr val="000000">
                <a:alpha val="15000"/>
              </a:srgbClr>
            </a:outerShdw>
          </a:effectLst>
        </p:spPr>
        <p:txBody xmlns:a="http://schemas.openxmlformats.org/drawingml/2006/main">
          <a:bodyPr/>
          <a:p/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06447321-F04F-4EA0-91F6-C0D014460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103120"/>
            <a:ext cx="2468880" cy="384048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EAF2F1"/>
          </a:solidFill>
        </p:spPr>
        <p:txBody xmlns:a="http://schemas.openxmlformats.org/drawingml/2006/main">
          <a:bodyPr/>
          <a:p/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ECFC24A0-782D-45F3-92C0-06B76D486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103120"/>
            <a:ext cx="24688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5353B"/>
                </a:solidFill>
                <a:latin typeface="Calibri"/>
                <a:ea typeface="Calibri"/>
                <a:cs typeface="Calibri"/>
              </a:rPr>
              <a:t>연령대 1위</a:t>
            </a:r>
            <a:endParaRPr sz="105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D2687300-CDFA-4990-9264-F75482FE8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578608"/>
            <a:ext cx="47548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05353B"/>
                </a:solidFill>
                <a:latin typeface="Calibri"/>
                <a:ea typeface="Calibri"/>
                <a:cs typeface="Calibri"/>
              </a:rPr>
              <a:t>30대 75.3%</a:t>
            </a:r>
            <a:endParaRPr sz="20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BD6EC2A4-DDD0-470A-B706-2BBC6B9D2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035808"/>
            <a:ext cx="47548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8000"/>
              </a:lnSpc>
              <a:buNone/>
            </a:pPr>
            <a:r>
              <a:rPr sz="1250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20대 61.1%, 40대 60.5%보다 높다. 흥미가 옅어진 상태를 가장 많이 겪는다.</a:t>
            </a:r>
            <a:endParaRPr sz="125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829329A8-1776-466D-8FE2-ED70632F1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977640"/>
            <a:ext cx="5394960" cy="187452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101600" dist="38100" dir="5400000" sx="100000" sy="100000" kx="0" ky="0" algn="bl" rotWithShape="0">
              <a:srgbClr val="000000">
                <a:alpha val="15000"/>
              </a:srgbClr>
            </a:outerShdw>
          </a:effectLst>
        </p:spPr>
        <p:txBody xmlns:a="http://schemas.openxmlformats.org/drawingml/2006/main">
          <a:bodyPr/>
          <a:p/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3BBBD6C2-0887-4F57-B46A-A247882D4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251960"/>
            <a:ext cx="2468880" cy="384048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EAF2F1"/>
          </a:solidFill>
        </p:spPr>
        <p:txBody xmlns:a="http://schemas.openxmlformats.org/drawingml/2006/main">
          <a:bodyPr/>
          <a:p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C33852D5-5119-41E2-9772-CFE6D1850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251960"/>
            <a:ext cx="24688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5353B"/>
                </a:solidFill>
                <a:latin typeface="Calibri"/>
                <a:ea typeface="Calibri"/>
                <a:cs typeface="Calibri"/>
              </a:rPr>
              <a:t>회복 방법 1위</a:t>
            </a:r>
            <a:endParaRPr sz="105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3AC19850-2C5B-44CB-9A31-D4159AF44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727448"/>
            <a:ext cx="47548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05353B"/>
                </a:solidFill>
                <a:latin typeface="Calibri"/>
                <a:ea typeface="Calibri"/>
                <a:cs typeface="Calibri"/>
              </a:rPr>
              <a:t>휴식 47.9%</a:t>
            </a:r>
            <a:endParaRPr sz="20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1D81C091-DDA7-45C4-91CC-EF1E9D744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184648"/>
            <a:ext cx="47548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8000"/>
              </a:lnSpc>
              <a:buNone/>
            </a:pPr>
            <a:r>
              <a:rPr sz="1250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휴가나 휴직으로 쉬었다는 응답이다.</a:t>
            </a:r>
            <a:endParaRPr sz="125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85154ED6-3A9D-4421-94FA-165C90C7A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977640"/>
            <a:ext cx="5394960" cy="187452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C07A10"/>
          </a:solidFill>
          <a:effectLst xmlns:a="http://schemas.openxmlformats.org/drawingml/2006/main">
            <a:outerShdw blurRad="101600" dist="38100" dir="5400000" sx="100000" sy="100000" kx="0" ky="0" algn="bl" rotWithShape="0">
              <a:srgbClr val="000000">
                <a:alpha val="15000"/>
              </a:srgbClr>
            </a:outerShdw>
          </a:effectLst>
        </p:spPr>
        <p:txBody xmlns:a="http://schemas.openxmlformats.org/drawingml/2006/main">
          <a:bodyPr/>
          <a:p/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6F0BBBDA-B6DF-4B77-9B55-B94A05B30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251960"/>
            <a:ext cx="2468880" cy="384048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FFF">
              <a:alpha val="20000"/>
            </a:srgbClr>
          </a:solidFill>
        </p:spPr>
        <p:txBody xmlns:a="http://schemas.openxmlformats.org/drawingml/2006/main">
          <a:bodyPr/>
          <a:p/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914F1899-4E05-409A-BF68-46B607E51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251960"/>
            <a:ext cx="24688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회복 방법 2위</a:t>
            </a:r>
            <a:endParaRPr sz="105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B31051E6-9199-499F-AE93-CB6DC8B1B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727448"/>
            <a:ext cx="47548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취미 41.5%</a:t>
            </a:r>
            <a:endParaRPr sz="20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42DADD53-FDED-43C4-BFD6-44126F70E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5184648"/>
            <a:ext cx="47548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8000"/>
              </a:lnSpc>
              <a:buNone/>
            </a:pPr>
            <a:r>
              <a:rPr sz="1250">
                <a:solidFill>
                  <a:srgbClr val="FFF3E0"/>
                </a:solidFill>
                <a:latin typeface="Calibri"/>
                <a:ea typeface="Calibri"/>
                <a:cs typeface="Calibri"/>
              </a:rPr>
              <a:t>이미 다른 일에 잠깐 마음을 쓰고 있었다. 호기심이라는 이름이 붙지 않았을 뿐이다.</a:t>
            </a:r>
            <a:endParaRPr sz="125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4B430E7E-27A1-43D7-9B4B-04F2F7EDB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355080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4장 · 호기심 — 회사 밖 세계에 다시 마음을 열다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78536562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32B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04CFC36-DAAC-413A-B016-74EDE7C26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1480"/>
            <a:ext cx="7315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200">
                <a:solidFill>
                  <a:srgbClr val="EDC47C"/>
                </a:solidFill>
                <a:latin typeface="Calibri"/>
                <a:ea typeface="Calibri"/>
                <a:cs typeface="Calibri"/>
              </a:rPr>
              <a:t>데이터로 보기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23E240F-70FD-450B-A8FE-04BED381E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77240"/>
            <a:ext cx="105156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</a:rPr>
              <a:t>회사 밖을 가장 많이 두드리는 세대</a:t>
            </a:r>
            <a:endParaRPr sz="32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2285122-041B-456D-9D22-6A246950E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057400"/>
            <a:ext cx="2606040" cy="2834640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0A4A50"/>
          </a:solidFill>
          <a:ln xmlns:a="http://schemas.openxmlformats.org/drawingml/2006/main" w="12700">
            <a:solidFill>
              <a:srgbClr val="15615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1A7F9252-7C1F-4A51-95B6-6D4B0E24F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1720"/>
            <a:ext cx="2331720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4000" b="1">
                <a:solidFill>
                  <a:srgbClr val="C07A10"/>
                </a:solidFill>
                <a:latin typeface="Century Schoolbook"/>
                <a:ea typeface="Century Schoolbook"/>
                <a:cs typeface="Century Schoolbook"/>
              </a:rPr>
              <a:t>57.0%</a:t>
            </a:r>
            <a:endParaRPr sz="40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8B2D1D9C-855C-4B6B-8A52-065823D26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520440"/>
            <a:ext cx="224028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25000"/>
              </a:lnSpc>
              <a:buNone/>
            </a:pPr>
            <a:r>
              <a:rPr sz="1300">
                <a:solidFill>
                  <a:srgbClr val="D9E7E5"/>
                </a:solidFill>
                <a:latin typeface="Calibri"/>
                <a:ea typeface="Calibri"/>
                <a:cs typeface="Calibri"/>
              </a:rPr>
              <a:t>30대의 부업 경험률</a:t>
            </a:r>
            <a:endParaRPr sz="1300"/>
          </a:p>
          <a:p xmlns:a="http://schemas.openxmlformats.org/drawingml/2006/main">
            <a:pPr marL="0" indent="0" algn="ctr">
              <a:lnSpc>
                <a:spcPct val="125000"/>
              </a:lnSpc>
              <a:buNone/>
            </a:pPr>
            <a:r>
              <a:rPr sz="1300">
                <a:solidFill>
                  <a:srgbClr val="D9E7E5"/>
                </a:solidFill>
                <a:latin typeface="Calibri"/>
                <a:ea typeface="Calibri"/>
                <a:cs typeface="Calibri"/>
              </a:rPr>
              <a:t>전 연령대 중 1위</a:t>
            </a:r>
            <a:endParaRPr sz="13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BAD369F2-E621-461B-A50D-F0BC50E2E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2057400"/>
            <a:ext cx="2606040" cy="2834640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0A4A50"/>
          </a:solidFill>
          <a:ln xmlns:a="http://schemas.openxmlformats.org/drawingml/2006/main" w="12700">
            <a:solidFill>
              <a:srgbClr val="15615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87B1E57B-68E6-4F07-A08F-6C56DB4CB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2331720"/>
            <a:ext cx="2331720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4000" b="1">
                <a:solidFill>
                  <a:srgbClr val="C07A10"/>
                </a:solidFill>
                <a:latin typeface="Century Schoolbook"/>
                <a:ea typeface="Century Schoolbook"/>
                <a:cs typeface="Century Schoolbook"/>
              </a:rPr>
              <a:t>55.2%</a:t>
            </a:r>
            <a:endParaRPr sz="40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F24BDC45-606A-4696-B9D5-EDBD49C5B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520440"/>
            <a:ext cx="224028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25000"/>
              </a:lnSpc>
              <a:buNone/>
            </a:pPr>
            <a:r>
              <a:rPr sz="1300">
                <a:solidFill>
                  <a:srgbClr val="D9E7E5"/>
                </a:solidFill>
                <a:latin typeface="Calibri"/>
                <a:ea typeface="Calibri"/>
                <a:cs typeface="Calibri"/>
              </a:rPr>
              <a:t>20대</a:t>
            </a:r>
            <a:endParaRPr sz="1300"/>
          </a:p>
          <a:p xmlns:a="http://schemas.openxmlformats.org/drawingml/2006/main">
            <a:pPr marL="0" indent="0" algn="ctr">
              <a:lnSpc>
                <a:spcPct val="125000"/>
              </a:lnSpc>
              <a:buNone/>
            </a:pPr>
            <a:r>
              <a:rPr sz="1300">
                <a:solidFill>
                  <a:srgbClr val="D9E7E5"/>
                </a:solidFill>
                <a:latin typeface="Calibri"/>
                <a:ea typeface="Calibri"/>
                <a:cs typeface="Calibri"/>
              </a:rPr>
              <a:t>30대 바로 다음</a:t>
            </a:r>
            <a:endParaRPr sz="13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D5153638-5448-4A74-897A-744EFF3AE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057400"/>
            <a:ext cx="2606040" cy="2834640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0A4A50"/>
          </a:solidFill>
          <a:ln xmlns:a="http://schemas.openxmlformats.org/drawingml/2006/main" w="12700">
            <a:solidFill>
              <a:srgbClr val="15615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46482E35-8B43-4C42-A59B-78BA26576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2331720"/>
            <a:ext cx="2331720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4000" b="1">
                <a:solidFill>
                  <a:srgbClr val="C07A10"/>
                </a:solidFill>
                <a:latin typeface="Century Schoolbook"/>
                <a:ea typeface="Century Schoolbook"/>
                <a:cs typeface="Century Schoolbook"/>
              </a:rPr>
              <a:t>50.4%</a:t>
            </a:r>
            <a:endParaRPr sz="40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5BFBAF4C-3A1C-4B88-942E-DD293B7AC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20440"/>
            <a:ext cx="224028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25000"/>
              </a:lnSpc>
              <a:buNone/>
            </a:pPr>
            <a:r>
              <a:rPr sz="1300">
                <a:solidFill>
                  <a:srgbClr val="D9E7E5"/>
                </a:solidFill>
                <a:latin typeface="Calibri"/>
                <a:ea typeface="Calibri"/>
                <a:cs typeface="Calibri"/>
              </a:rPr>
              <a:t>40대</a:t>
            </a:r>
            <a:endParaRPr sz="1300"/>
          </a:p>
          <a:p xmlns:a="http://schemas.openxmlformats.org/drawingml/2006/main">
            <a:pPr marL="0" indent="0" algn="ctr">
              <a:lnSpc>
                <a:spcPct val="125000"/>
              </a:lnSpc>
              <a:buNone/>
            </a:pPr>
            <a:r>
              <a:rPr sz="1300">
                <a:solidFill>
                  <a:srgbClr val="D9E7E5"/>
                </a:solidFill>
                <a:latin typeface="Calibri"/>
                <a:ea typeface="Calibri"/>
                <a:cs typeface="Calibri"/>
              </a:rPr>
              <a:t>절반 수준을 유지</a:t>
            </a:r>
            <a:endParaRPr sz="130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2F046CDA-0448-4D6F-80B9-441479CD3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2057400"/>
            <a:ext cx="2606040" cy="2834640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0A4A50"/>
          </a:solidFill>
          <a:ln xmlns:a="http://schemas.openxmlformats.org/drawingml/2006/main" w="12700">
            <a:solidFill>
              <a:srgbClr val="15615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B0F085A5-87F7-4BA9-B684-F0F9425E1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9720" y="2331720"/>
            <a:ext cx="2331720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4000" b="1">
                <a:solidFill>
                  <a:srgbClr val="C07A10"/>
                </a:solidFill>
                <a:latin typeface="Century Schoolbook"/>
                <a:ea typeface="Century Schoolbook"/>
                <a:cs typeface="Century Schoolbook"/>
              </a:rPr>
              <a:t>30.7%</a:t>
            </a:r>
            <a:endParaRPr sz="40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33A2FB15-5661-4EF3-B139-F0A7139C4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3520440"/>
            <a:ext cx="224028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25000"/>
              </a:lnSpc>
              <a:buNone/>
            </a:pPr>
            <a:r>
              <a:rPr sz="1300">
                <a:solidFill>
                  <a:srgbClr val="D9E7E5"/>
                </a:solidFill>
                <a:latin typeface="Calibri"/>
                <a:ea typeface="Calibri"/>
                <a:cs typeface="Calibri"/>
              </a:rPr>
              <a:t>50대 이상</a:t>
            </a:r>
            <a:endParaRPr sz="1300"/>
          </a:p>
          <a:p xmlns:a="http://schemas.openxmlformats.org/drawingml/2006/main">
            <a:pPr marL="0" indent="0" algn="ctr">
              <a:lnSpc>
                <a:spcPct val="125000"/>
              </a:lnSpc>
              <a:buNone/>
            </a:pPr>
            <a:r>
              <a:rPr sz="1300">
                <a:solidFill>
                  <a:srgbClr val="D9E7E5"/>
                </a:solidFill>
                <a:latin typeface="Calibri"/>
                <a:ea typeface="Calibri"/>
                <a:cs typeface="Calibri"/>
              </a:rPr>
              <a:t>뚜렷하게 낮아진다</a:t>
            </a:r>
            <a:endParaRPr sz="13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5461BDA2-1B9F-41BE-84A9-1E1DD00F4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257800"/>
            <a:ext cx="110642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8FA8A4"/>
                </a:solidFill>
                <a:latin typeface="Calibri"/>
                <a:ea typeface="Calibri"/>
                <a:cs typeface="Calibri"/>
              </a:rPr>
              <a:t>수업 안내: 부업을 하지 않는 이유 1위는 “무엇을 해야 할지 몰라서”(54.3%)였다. 장벽은 시간이 아니라 방향이다. (뉴워커, 2025년 11월 직장인 728명 조사)</a:t>
            </a:r>
            <a:endParaRPr sz="11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54F399B8-9C91-420B-B0ED-22BE09AE3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355080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B9CDCA"/>
                </a:solidFill>
                <a:latin typeface="Calibri"/>
                <a:ea typeface="Calibri"/>
                <a:cs typeface="Calibri"/>
              </a:rPr>
              <a:t>4장 · 호기심 — 회사 밖 세계에 다시 마음을 열다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9306750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5EDBC5E-F469-4595-9923-3CC971127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1480"/>
            <a:ext cx="7315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200">
                <a:solidFill>
                  <a:srgbClr val="C07A10"/>
                </a:solidFill>
                <a:latin typeface="Calibri"/>
                <a:ea typeface="Calibri"/>
                <a:cs typeface="Calibri"/>
              </a:rPr>
              <a:t>핵심 개념 3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51333CF-9A03-4678-AEC4-42861C9B2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77240"/>
            <a:ext cx="105156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5353B"/>
                </a:solidFill>
                <a:latin typeface="Century Schoolbook"/>
                <a:ea typeface="Century Schoolbook"/>
                <a:cs typeface="Century Schoolbook"/>
              </a:rPr>
              <a:t>호기심을 가로막는 것은 시간이 아니다</a:t>
            </a:r>
            <a:endParaRPr sz="30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67BF620-93E3-4FDF-8C81-CEFB0B6C9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83080"/>
            <a:ext cx="749808" cy="7498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1"/>
          </a:solidFill>
        </p:spPr>
        <p:txBody xmlns:a="http://schemas.openxmlformats.org/drawingml/2006/main">
          <a:bodyPr/>
          <a:p/>
        </p:txBody>
      </p:sp>
      <p:pic>
        <p:nvPicPr>
          <p:cNvPr id="3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6fd86910a248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2376" y="1956816"/>
            <a:ext cx="402336" cy="402336"/>
          </a:xfrm>
          <a:prstGeom xmlns:a="http://schemas.openxmlformats.org/drawingml/2006/main" prst="rect">
            <a:avLst/>
          </a:prstGeom>
        </p:spPr>
      </p:pic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12800493-3553-4477-99C5-AF13B425D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1755648"/>
            <a:ext cx="44805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50" b="1">
                <a:solidFill>
                  <a:srgbClr val="05353B"/>
                </a:solidFill>
                <a:latin typeface="Calibri"/>
                <a:ea typeface="Calibri"/>
                <a:cs typeface="Calibri"/>
              </a:rPr>
              <a:t>“시간이 없다”</a:t>
            </a:r>
            <a:endParaRPr sz="155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58837D00-811B-434B-8427-B8139A072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2130552"/>
            <a:ext cx="44805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20000"/>
              </a:lnSpc>
              <a:buNone/>
            </a:pPr>
            <a:r>
              <a:rPr sz="1200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자기계발의 가장 큰 어려움 1위는 시간 부족(39.1%)이었다.</a:t>
            </a:r>
            <a:endParaRPr sz="1200"/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D5EE6CF6-8881-4FAB-8BD7-78708BC51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783080"/>
            <a:ext cx="749808" cy="7498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1"/>
          </a:solidFill>
        </p:spPr>
        <p:txBody xmlns:a="http://schemas.openxmlformats.org/drawingml/2006/main">
          <a:bodyPr/>
          <a:p/>
        </p:txBody>
      </p:sp>
      <p:pic>
        <p:nvPicPr>
          <p:cNvPr id="3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d17a2902af491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91656" y="1956816"/>
            <a:ext cx="402336" cy="402336"/>
          </a:xfrm>
          <a:prstGeom xmlns:a="http://schemas.openxmlformats.org/drawingml/2006/main" prst="rect">
            <a:avLst/>
          </a:prstGeom>
        </p:spPr>
      </p:pic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216E76EE-4101-403F-8AF1-256D2E616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1755648"/>
            <a:ext cx="44805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50" b="1">
                <a:solidFill>
                  <a:srgbClr val="05353B"/>
                </a:solidFill>
                <a:latin typeface="Calibri"/>
                <a:ea typeface="Calibri"/>
                <a:cs typeface="Calibri"/>
              </a:rPr>
              <a:t>이미 쓰고 있다</a:t>
            </a:r>
            <a:endParaRPr sz="1550"/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DD472462-39B3-4F40-8B0A-45F9204E4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2130552"/>
            <a:ext cx="44805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20000"/>
              </a:lnSpc>
              <a:buNone/>
            </a:pPr>
            <a:r>
              <a:rPr sz="1200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다른 조사에서는 50.4%가 업무시간에도 자기계발을 한다고 답했다.</a:t>
            </a:r>
            <a:endParaRPr sz="1200"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F7B0F470-E26F-43D1-A43D-D220F0506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291840"/>
            <a:ext cx="749808" cy="7498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1"/>
          </a:solidFill>
        </p:spPr>
        <p:txBody xmlns:a="http://schemas.openxmlformats.org/drawingml/2006/main">
          <a:bodyPr/>
          <a:p/>
        </p:txBody>
      </p:sp>
      <p:pic>
        <p:nvPicPr>
          <p:cNvPr id="38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6e3948d11643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2376" y="3465576"/>
            <a:ext cx="402336" cy="402336"/>
          </a:xfrm>
          <a:prstGeom xmlns:a="http://schemas.openxmlformats.org/drawingml/2006/main" prst="rect">
            <a:avLst/>
          </a:prstGeom>
        </p:spPr>
      </p:pic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836C3734-8E59-4321-81D1-66D906B4A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3264408"/>
            <a:ext cx="44805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50" b="1">
                <a:solidFill>
                  <a:srgbClr val="05353B"/>
                </a:solidFill>
                <a:latin typeface="Calibri"/>
                <a:ea typeface="Calibri"/>
                <a:cs typeface="Calibri"/>
              </a:rPr>
              <a:t>“잘 못할 것 같다”</a:t>
            </a:r>
            <a:endParaRPr sz="1550"/>
          </a:p>
        </p:txBody>
      </p:sp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80F0EDD0-35A1-4EF6-B1EC-433341FD3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3639312"/>
            <a:ext cx="44805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20000"/>
              </a:lnSpc>
              <a:buNone/>
            </a:pPr>
            <a:r>
              <a:rPr sz="1200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8년, 10년을 쌓은 사람에게 초보자로 돌아가는 느낌은 부담스럽다.</a:t>
            </a:r>
            <a:endParaRPr sz="1200"/>
          </a:p>
        </p:txBody>
      </p:sp>
      <p:sp>
        <p:nvSpPr>
          <p:cNvPr id="16" name="Shape 11">
            <a:extLst xmlns:a="http://schemas.openxmlformats.org/drawingml/2006/main">
              <a:ext uri="{FF2B5EF4-FFF2-40B4-BE49-F238E27FC236}">
                <a16:creationId xmlns:a16="http://schemas.microsoft.com/office/drawing/2014/main" id="{C44CA1D1-B22F-4B40-A5F6-481470A1E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291840"/>
            <a:ext cx="749808" cy="7498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1"/>
          </a:solidFill>
        </p:spPr>
        <p:txBody xmlns:a="http://schemas.openxmlformats.org/drawingml/2006/main">
          <a:bodyPr/>
          <a:p/>
        </p:txBody>
      </p:sp>
      <p:pic>
        <p:nvPicPr>
          <p:cNvPr id="42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27b4f6b2a343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91656" y="3465576"/>
            <a:ext cx="402336" cy="402336"/>
          </a:xfrm>
          <a:prstGeom xmlns:a="http://schemas.openxmlformats.org/drawingml/2006/main" prst="rect">
            <a:avLst/>
          </a:prstGeom>
        </p:spPr>
      </p:pic>
      <p:sp>
        <p:nvSpPr>
          <p:cNvPr id="18" name="Text 12">
            <a:extLst xmlns:a="http://schemas.openxmlformats.org/drawingml/2006/main">
              <a:ext uri="{FF2B5EF4-FFF2-40B4-BE49-F238E27FC236}">
                <a16:creationId xmlns:a16="http://schemas.microsoft.com/office/drawing/2014/main" id="{7A13F6FE-3E5F-4E38-BD94-7D2DC7FE4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3264408"/>
            <a:ext cx="44805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50" b="1">
                <a:solidFill>
                  <a:srgbClr val="05353B"/>
                </a:solidFill>
                <a:latin typeface="Calibri"/>
                <a:ea typeface="Calibri"/>
                <a:cs typeface="Calibri"/>
              </a:rPr>
              <a:t>“이 나이에 새삼스럽게”</a:t>
            </a:r>
            <a:endParaRPr sz="1550"/>
          </a:p>
        </p:txBody>
      </p:sp>
      <p:sp>
        <p:nvSpPr>
          <p:cNvPr id="19" name="Text 13">
            <a:extLst xmlns:a="http://schemas.openxmlformats.org/drawingml/2006/main">
              <a:ext uri="{FF2B5EF4-FFF2-40B4-BE49-F238E27FC236}">
                <a16:creationId xmlns:a16="http://schemas.microsoft.com/office/drawing/2014/main" id="{EC82AF32-161B-42CF-9D75-36146ADC0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3639312"/>
            <a:ext cx="44805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20000"/>
              </a:lnSpc>
              <a:buNone/>
            </a:pPr>
            <a:r>
              <a:rPr sz="1200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질문 하나와 작은 시도에는 늦고 빠름의 기준이 적용될 여지가 없다.</a:t>
            </a:r>
            <a:endParaRPr sz="1200"/>
          </a:p>
        </p:txBody>
      </p:sp>
      <p:sp>
        <p:nvSpPr>
          <p:cNvPr id="20" name="Shape 14">
            <a:extLst xmlns:a="http://schemas.openxmlformats.org/drawingml/2006/main">
              <a:ext uri="{FF2B5EF4-FFF2-40B4-BE49-F238E27FC236}">
                <a16:creationId xmlns:a16="http://schemas.microsoft.com/office/drawing/2014/main" id="{2536EE1B-4206-4DA4-AED9-A99ADC8B4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5074920"/>
            <a:ext cx="9235440" cy="777240"/>
          </a:xfrm>
          <a:prstGeom xmlns:a="http://schemas.openxmlformats.org/drawingml/2006/main" prst="roundRect">
            <a:avLst>
              <a:gd name="adj" fmla="val 14118"/>
            </a:avLst>
          </a:prstGeom>
          <a:solidFill xmlns:a="http://schemas.openxmlformats.org/drawingml/2006/main">
            <a:srgbClr val="C07A10"/>
          </a:solidFill>
        </p:spPr>
        <p:txBody xmlns:a="http://schemas.openxmlformats.org/drawingml/2006/main">
          <a:bodyPr/>
          <a:p/>
        </p:txBody>
      </p:sp>
      <p:sp>
        <p:nvSpPr>
          <p:cNvPr id="21" name="Text 15">
            <a:extLst xmlns:a="http://schemas.openxmlformats.org/drawingml/2006/main">
              <a:ext uri="{FF2B5EF4-FFF2-40B4-BE49-F238E27FC236}">
                <a16:creationId xmlns:a16="http://schemas.microsoft.com/office/drawing/2014/main" id="{D10EAE21-3CF3-48C6-9530-B4180A00F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5074920"/>
            <a:ext cx="886968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</a:rPr>
              <a:t>필요한 것은 새 시간이 아니라, 이미 쓰는 시간의 일부를 “지금 하는 일과 무관한 것”에 내어주는 일이다.</a:t>
            </a:r>
            <a:endParaRPr sz="1700"/>
          </a:p>
        </p:txBody>
      </p:sp>
      <p:sp>
        <p:nvSpPr>
          <p:cNvPr id="22" name="Text 16">
            <a:extLst xmlns:a="http://schemas.openxmlformats.org/drawingml/2006/main">
              <a:ext uri="{FF2B5EF4-FFF2-40B4-BE49-F238E27FC236}">
                <a16:creationId xmlns:a16="http://schemas.microsoft.com/office/drawing/2014/main" id="{BF94397B-1A4D-4C10-8862-3ED9A9BA3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355080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4장 · 호기심 — 회사 밖 세계에 다시 마음을 열다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01158046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EAF2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20B6DEC-28F1-4659-8D91-E3049B68E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1480"/>
            <a:ext cx="7315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200">
                <a:solidFill>
                  <a:srgbClr val="C07A10"/>
                </a:solidFill>
                <a:latin typeface="Calibri"/>
                <a:ea typeface="Calibri"/>
                <a:cs typeface="Calibri"/>
              </a:rPr>
              <a:t>수업 도구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84B7956-6A86-4170-91CC-C073711B5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77240"/>
            <a:ext cx="105156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900" b="1">
                <a:solidFill>
                  <a:srgbClr val="05353B"/>
                </a:solidFill>
                <a:latin typeface="Century Schoolbook"/>
                <a:ea typeface="Century Schoolbook"/>
                <a:cs typeface="Century Schoolbook"/>
              </a:rPr>
              <a:t>정보탐색 인터뷰와 호기심의 순환</a:t>
            </a:r>
            <a:endParaRPr sz="2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476CD4D-09E1-44C8-ACDA-F93B0AD9A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83080"/>
            <a:ext cx="5577840" cy="3246120"/>
          </a:xfrm>
          <a:prstGeom xmlns:a="http://schemas.openxmlformats.org/drawingml/2006/main" prst="roundRect">
            <a:avLst>
              <a:gd name="adj" fmla="val 2817"/>
            </a:avLst>
          </a:prstGeom>
          <a:solidFill xmlns:a="http://schemas.openxmlformats.org/drawingml/2006/main">
            <a:srgbClr val="FFFFFF"/>
          </a:solidFill>
        </p:spPr>
        <p:txBody xmlns:a="http://schemas.openxmlformats.org/drawingml/2006/main">
          <a:bodyPr/>
          <a:p/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E3219154-303D-4DBD-92D5-B61266EAE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965960"/>
            <a:ext cx="4937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5353B"/>
                </a:solidFill>
                <a:latin typeface="Calibri"/>
                <a:ea typeface="Calibri"/>
                <a:cs typeface="Calibri"/>
              </a:rPr>
              <a:t>30대에 맞게 옮긴 질문 4가지</a:t>
            </a:r>
            <a:endParaRPr sz="13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49930E6F-12F4-4FE2-B415-9CD97B7C9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487168"/>
            <a:ext cx="4937760" cy="530352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AF2F1"/>
          </a:solidFill>
        </p:spPr>
        <p:txBody xmlns:a="http://schemas.openxmlformats.org/drawingml/2006/main">
          <a:bodyPr/>
          <a:p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04F3AD51-E99E-4942-9C63-99C8FC749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487168"/>
            <a:ext cx="44805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20292B"/>
                </a:solidFill>
                <a:latin typeface="Calibri"/>
                <a:ea typeface="Calibri"/>
                <a:cs typeface="Calibri"/>
              </a:rPr>
              <a:t>그 일에서 가장 예상 밖이었던 것은?</a:t>
            </a:r>
            <a:endParaRPr sz="135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C6FD8764-F523-41D2-97EB-F2CE0F4FE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127248"/>
            <a:ext cx="4937760" cy="530352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AF2F1"/>
          </a:solidFill>
        </p:spPr>
        <p:txBody xmlns:a="http://schemas.openxmlformats.org/drawingml/2006/main">
          <a:bodyPr/>
          <a:p/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A318DF9C-9B07-4DD9-B7C3-14A828C7B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127248"/>
            <a:ext cx="44805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20292B"/>
                </a:solidFill>
                <a:latin typeface="Calibri"/>
                <a:ea typeface="Calibri"/>
                <a:cs typeface="Calibri"/>
              </a:rPr>
              <a:t>시작 전에 알았더라면 좋았을 것은?</a:t>
            </a:r>
            <a:endParaRPr sz="135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F8B2E5DB-ACC0-4FE7-8307-B850F4195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767328"/>
            <a:ext cx="4937760" cy="530352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AF2F1"/>
          </a:solidFill>
        </p:spPr>
        <p:txBody xmlns:a="http://schemas.openxmlformats.org/drawingml/2006/main">
          <a:bodyPr/>
          <a:p/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82F784F6-758C-4C14-A4BB-8A7C2AC14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767328"/>
            <a:ext cx="44805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20292B"/>
                </a:solidFill>
                <a:latin typeface="Calibri"/>
                <a:ea typeface="Calibri"/>
                <a:cs typeface="Calibri"/>
              </a:rPr>
              <a:t>이 분야로 옮긴 사람에게 자주 하는 조언은?</a:t>
            </a:r>
            <a:endParaRPr sz="135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FBACA021-E0C5-441F-B5FD-D49A11F2B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407408"/>
            <a:ext cx="4937760" cy="530352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AF2F1"/>
          </a:solidFill>
        </p:spPr>
        <p:txBody xmlns:a="http://schemas.openxmlformats.org/drawingml/2006/main">
          <a:bodyPr/>
          <a:p/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1D355266-9351-47F2-A07B-E85F08FA5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407408"/>
            <a:ext cx="44805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20292B"/>
                </a:solidFill>
                <a:latin typeface="Calibri"/>
                <a:ea typeface="Calibri"/>
                <a:cs typeface="Calibri"/>
              </a:rPr>
              <a:t>요즘 그 일에서 시간을 가장 많이 쓰는 곳은?</a:t>
            </a:r>
            <a:endParaRPr sz="135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3E682B75-9555-4E32-BECA-664F255A8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57800" cy="3246120"/>
          </a:xfrm>
          <a:prstGeom xmlns:a="http://schemas.openxmlformats.org/drawingml/2006/main" prst="roundRect">
            <a:avLst>
              <a:gd name="adj" fmla="val 2817"/>
            </a:avLst>
          </a:prstGeom>
          <a:solidFill xmlns:a="http://schemas.openxmlformats.org/drawingml/2006/main">
            <a:srgbClr val="05353B"/>
          </a:solidFill>
        </p:spPr>
        <p:txBody xmlns:a="http://schemas.openxmlformats.org/drawingml/2006/main">
          <a:bodyPr/>
          <a:p/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6E4BA188-BC57-458C-969C-464E29580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1965960"/>
            <a:ext cx="4663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C07A10"/>
                </a:solidFill>
                <a:latin typeface="Calibri"/>
                <a:ea typeface="Calibri"/>
                <a:cs typeface="Calibri"/>
              </a:rPr>
              <a:t>호기심의 순환</a:t>
            </a:r>
            <a:endParaRPr sz="13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02345465-C1DD-47E3-9471-AAFA6A5FA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450592"/>
            <a:ext cx="1371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질문</a:t>
            </a:r>
            <a:endParaRPr sz="16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7A07C550-DEF6-41E9-94B4-B07F359BA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487168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D9E7E5"/>
                </a:solidFill>
                <a:latin typeface="Calibri"/>
                <a:ea typeface="Calibri"/>
                <a:cs typeface="Calibri"/>
              </a:rPr>
              <a:t>“이건 정확히 뭐지?”가 떠오른다</a:t>
            </a:r>
            <a:endParaRPr sz="125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178736CF-F74A-45A6-9D46-3A135500D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3227832"/>
            <a:ext cx="1371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대화</a:t>
            </a:r>
            <a:endParaRPr sz="16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DA50DE7F-48F3-4D10-8A85-1C81EDA26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264408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D9E7E5"/>
                </a:solidFill>
                <a:latin typeface="Calibri"/>
                <a:ea typeface="Calibri"/>
                <a:cs typeface="Calibri"/>
              </a:rPr>
              <a:t>가볍게 물어본다 (30분 안팎)</a:t>
            </a:r>
            <a:endParaRPr sz="125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DE61BD28-6764-4F12-AC72-436EDB9E3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4005072"/>
            <a:ext cx="1371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시도</a:t>
            </a:r>
            <a:endParaRPr sz="16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52D097A3-85F3-49E5-BED7-A130F2B06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041648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D9E7E5"/>
                </a:solidFill>
                <a:latin typeface="Calibri"/>
                <a:ea typeface="Calibri"/>
                <a:cs typeface="Calibri"/>
              </a:rPr>
              <a:t>작게 해보고 새 질문을 얻는다</a:t>
            </a:r>
            <a:endParaRPr sz="125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576C885F-A147-418B-89F0-CCBBC83D4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257800"/>
            <a:ext cx="11064240" cy="86868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C07A10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4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9377cdec6f46a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468112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D61A3C3C-0C9F-46A5-AC1B-4F7B60631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5257800"/>
            <a:ext cx="996696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i="1">
                <a:solidFill>
                  <a:srgbClr val="20292B"/>
                </a:solidFill>
                <a:latin typeface="Calibri"/>
                <a:ea typeface="Calibri"/>
                <a:cs typeface="Calibri"/>
              </a:rPr>
              <a:t>강의 활용: 1주일 호기심 관찰 로그의 첫 줄을 수업 중에 함께 채운다. 하루 3분이면 충분하다.</a:t>
            </a:r>
            <a:endParaRPr sz="1350"/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9868BB2F-DF98-4DF3-89A9-5E78B1A9E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355080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4장 · 호기심 — 회사 밖 세계에 다시 마음을 열다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56754964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535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3de2a862e14e0e">
            <a:alphaModFix amt="22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418320" y="502920"/>
            <a:ext cx="1737360" cy="173736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CACF8C43-C430-41C0-AB9E-610D8FFD6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1480"/>
            <a:ext cx="7315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200">
                <a:solidFill>
                  <a:srgbClr val="EDC47C"/>
                </a:solidFill>
                <a:latin typeface="Calibri"/>
                <a:ea typeface="Calibri"/>
                <a:cs typeface="Calibri"/>
              </a:rPr>
              <a:t>토론 &amp; 활동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E6E63861-DD27-4510-B97D-55102AC0E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77240"/>
            <a:ext cx="91440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</a:rPr>
              <a:t>토론 질문 &amp; 수업 활동</a:t>
            </a:r>
            <a:endParaRPr sz="3200"/>
          </a:p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18952B68-94DB-4C15-8078-599CC7AC0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965960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07A10"/>
          </a:solidFill>
        </p:spPr>
        <p:txBody xmlns:a="http://schemas.openxmlformats.org/drawingml/2006/main">
          <a:bodyPr/>
          <a:p/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5D653BB3-1124-4C06-8783-384819181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965960"/>
            <a:ext cx="59436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sz="200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351F8620-EC59-44EB-9FC4-66B2F35F7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1874520"/>
            <a:ext cx="996696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최근 “이건 정확히 어떤 일일까”라고 궁금했던 것은 무엇이었는가?</a:t>
            </a:r>
            <a:endParaRPr sz="1700"/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8C7F96FD-F01F-4877-84AA-03212554A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926080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07A10"/>
          </a:solidFill>
        </p:spPr>
        <p:txBody xmlns:a="http://schemas.openxmlformats.org/drawingml/2006/main">
          <a:bodyPr/>
          <a:p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4D01168E-CB73-4AA3-8C0C-B2DD9B524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926080"/>
            <a:ext cx="59436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sz="20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BC7D9FAB-C9B3-40F7-8EFC-980005DA7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2834640"/>
            <a:ext cx="996696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그 질문을 누구에게, 어떻게 물어볼 수 있을까?</a:t>
            </a:r>
            <a:endParaRPr sz="1700"/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F0074F45-0448-401F-A348-AFA6424AA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60520"/>
            <a:ext cx="11064240" cy="178308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C07A10"/>
          </a:solidFill>
        </p:spPr>
        <p:txBody xmlns:a="http://schemas.openxmlformats.org/drawingml/2006/main">
          <a:bodyPr/>
          <a:p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8E047692-A335-4F03-8872-E5610B47D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89120"/>
            <a:ext cx="10332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E9C7"/>
                </a:solidFill>
                <a:latin typeface="Calibri"/>
                <a:ea typeface="Calibri"/>
                <a:cs typeface="Calibri"/>
              </a:rPr>
              <a:t>활동 · 1주일 호기심 관찰 로그</a:t>
            </a:r>
            <a:endParaRPr sz="13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27F6BE8B-CFCD-47B2-8185-4F62F82E7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54880"/>
            <a:ext cx="1033272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25000"/>
              </a:lnSpc>
              <a:buNone/>
            </a:pPr>
            <a:r>
              <a:rPr sz="1900" b="1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</a:rPr>
              <a:t>① 오늘 새롭게 보거나 들은 것</a:t>
            </a:r>
            <a:endParaRPr sz="1900"/>
          </a:p>
          <a:p xmlns:a="http://schemas.openxmlformats.org/drawingml/2006/main">
            <a:pPr marL="0" indent="0">
              <a:lnSpc>
                <a:spcPct val="125000"/>
              </a:lnSpc>
              <a:buNone/>
            </a:pPr>
            <a:r>
              <a:rPr sz="1900" b="1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</a:rPr>
              <a:t>② 그것에 대해 떠오른 질문 한 가지</a:t>
            </a:r>
            <a:endParaRPr sz="1900"/>
          </a:p>
          <a:p xmlns:a="http://schemas.openxmlformats.org/drawingml/2006/main">
            <a:pPr marL="0" indent="0">
              <a:lnSpc>
                <a:spcPct val="125000"/>
              </a:lnSpc>
              <a:buNone/>
            </a:pPr>
            <a:r>
              <a:rPr sz="1900" b="1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</a:rPr>
              <a:t>③ (선택) 누구에게, 어떻게 물어볼 수 있을까</a:t>
            </a:r>
            <a:endParaRPr sz="190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AB6B2263-C468-4729-AFC8-FB435FFC9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355080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B9CDCA"/>
                </a:solidFill>
                <a:latin typeface="Calibri"/>
                <a:ea typeface="Calibri"/>
                <a:cs typeface="Calibri"/>
              </a:rPr>
              <a:t>4장 · 호기심 — 회사 밖 세계에 다시 마음을 열다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206640542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32B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39DB6FC-E44E-4FC6-A647-353FD5CFD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1480"/>
            <a:ext cx="7315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200">
                <a:solidFill>
                  <a:srgbClr val="EDC47C"/>
                </a:solidFill>
                <a:latin typeface="Calibri"/>
                <a:ea typeface="Calibri"/>
                <a:cs typeface="Calibri"/>
              </a:rPr>
              <a:t>오늘의 핵심 정리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8D041AA-250F-434F-849F-B26809CDE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77240"/>
            <a:ext cx="91440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</a:rPr>
              <a:t>4장 요약</a:t>
            </a:r>
            <a:endParaRPr sz="34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735F4CD-743A-4F74-BBE3-524BB6DA0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011680"/>
            <a:ext cx="411480" cy="411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07A10"/>
          </a:solidFill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A104A6CE-1DF7-46D6-8EBC-F151B1C17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011680"/>
            <a:ext cx="4114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sz="15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305DF84D-FE16-42DC-B538-1961A349E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1965960"/>
            <a:ext cx="10058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>
                <a:solidFill>
                  <a:srgbClr val="E8F0EE"/>
                </a:solidFill>
                <a:latin typeface="Calibri"/>
                <a:ea typeface="Calibri"/>
                <a:cs typeface="Calibri"/>
              </a:rPr>
              <a:t>관심은 발견되는 것이 아니라 작은 경험의 반복에서 만들어진다.</a:t>
            </a:r>
            <a:endParaRPr sz="17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711862C0-8A4F-47E3-986D-AB6EFD790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88920"/>
            <a:ext cx="411480" cy="411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07A10"/>
          </a:solidFill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4CCB09B8-40E4-4481-885B-EDB21A55F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88920"/>
            <a:ext cx="4114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sz="15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F7712F6-B444-4A2B-A804-5714299A7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2743200"/>
            <a:ext cx="10058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>
                <a:solidFill>
                  <a:srgbClr val="E8F0EE"/>
                </a:solidFill>
                <a:latin typeface="Calibri"/>
                <a:ea typeface="Calibri"/>
                <a:cs typeface="Calibri"/>
              </a:rPr>
              <a:t>번아웃의 냉소는 흥미를 옅게 만들지만, 작은 질문이 스위치를 다시 켠다.</a:t>
            </a:r>
            <a:endParaRPr sz="17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994807AB-C7F9-49EA-933A-F451C45F6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566160"/>
            <a:ext cx="411480" cy="411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07A10"/>
          </a:solidFill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E497243D-8973-4EE7-8CFC-456120EE1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566160"/>
            <a:ext cx="4114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 sz="15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93DF086C-8C46-45B4-B3CB-F712F8179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3520440"/>
            <a:ext cx="10058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>
                <a:solidFill>
                  <a:srgbClr val="E8F0EE"/>
                </a:solidFill>
                <a:latin typeface="Calibri"/>
                <a:ea typeface="Calibri"/>
                <a:cs typeface="Calibri"/>
              </a:rPr>
              <a:t>호기심은 질문 → 대화 → 작은 시도 → 새로운 질문의 순환으로 자란다.</a:t>
            </a:r>
            <a:endParaRPr sz="170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9710A7B4-5349-429D-B088-FEC1EBEEF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663440"/>
            <a:ext cx="7498080" cy="1051560"/>
          </a:xfrm>
          <a:prstGeom xmlns:a="http://schemas.openxmlformats.org/drawingml/2006/main" prst="roundRect">
            <a:avLst>
              <a:gd name="adj" fmla="val 10435"/>
            </a:avLst>
          </a:prstGeom>
          <a:solidFill xmlns:a="http://schemas.openxmlformats.org/drawingml/2006/main">
            <a:srgbClr val="C07A10"/>
          </a:solidFill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5B44A0D-85EB-44EA-A09D-BD3EB8498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846320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E9C7"/>
                </a:solidFill>
                <a:latin typeface="Calibri"/>
                <a:ea typeface="Calibri"/>
                <a:cs typeface="Calibri"/>
              </a:rPr>
              <a:t>다음 시간</a:t>
            </a:r>
            <a:endParaRPr sz="12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F3A3CF52-E327-40CB-A6F4-17F963588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120640"/>
            <a:ext cx="6858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</a:rPr>
              <a:t>5장. 인내심 — 전환은 한 번에 오지 않는다</a:t>
            </a:r>
            <a:endParaRPr sz="2200"/>
          </a:p>
        </p:txBody>
      </p:sp>
      <p:pic>
        <p:nvPicPr>
          <p:cNvPr id="3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37cbe9a2f2445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52360" y="507492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0E410D7C-4350-4644-B57E-85CF35BF9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080760"/>
            <a:ext cx="73152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20000"/>
              </a:lnSpc>
              <a:buNone/>
            </a:pPr>
            <a:r>
              <a:rPr sz="1100">
                <a:solidFill>
                  <a:srgbClr val="8FA8A4"/>
                </a:solidFill>
                <a:latin typeface="Calibri"/>
                <a:ea typeface="Calibri"/>
                <a:cs typeface="Calibri"/>
              </a:rPr>
              <a:t>이승원 | LEE SEUNG WON · Career Transition Lab</a:t>
            </a:r>
            <a:endParaRPr sz="1100"/>
          </a:p>
          <a:p xmlns:a="http://schemas.openxmlformats.org/drawingml/2006/main">
            <a:pPr marL="0" indent="0">
              <a:lnSpc>
                <a:spcPct val="120000"/>
              </a:lnSpc>
              <a:buNone/>
            </a:pPr>
            <a:r>
              <a:rPr sz="1100">
                <a:solidFill>
                  <a:srgbClr val="8FA8A4"/>
                </a:solidFill>
                <a:latin typeface="Calibri"/>
                <a:ea typeface="Calibri"/>
                <a:cs typeface="Calibri"/>
              </a:rPr>
              <a:t>강의자료 문의: lswon@hansung.ac.kr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543310860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2026-09-22T07:59:38.6980000Z</dcterms:created>
  <dcterms:modified xsi:type="dcterms:W3CDTF">2026-09-22T07:59:38.6980000Z</dcterms:modified>
</coreProperties>
</file>
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78240" y="14630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141732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TRANSITION LAB · VOL.1 강의자료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96596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우연이 만드는 진로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83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4D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5212080"/>
            <a:ext cx="3749040" cy="566928"/>
          </a:xfrm>
          <a:prstGeom prst="roundRect">
            <a:avLst>
              <a:gd name="adj" fmla="val 19355"/>
            </a:avLst>
          </a:prstGeom>
          <a:solidFill>
            <a:srgbClr val="05353B"/>
          </a:solidFill>
          <a:ln w="12700">
            <a:solidFill>
              <a:srgbClr val="2E5A5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21208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교강사용 미니 렉처 · 8~10분 분량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 ·  Career Transition 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목표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이 장에서 다룰 것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937" y="21003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85623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진로이론 100년의 흐름 파악하기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29514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파슨스 → 홀랜드 → 수퍼 → 크럼볼츠로 이어지는 관점의 변화를 이해한다.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9184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7" y="35176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27355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고전 이론의 기여와 한계 이해하기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71246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특성-요인론·RIASEC·생애발달론이 무엇을 설명하고, 무엇을 놓치는지 파악한다.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709160"/>
            <a:ext cx="868680" cy="86868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493501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69087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HLT가 등장한 이유 설명하기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5129784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이론의 공통된 사각지대 — "우연" — 에 HLT가 어떻게 응답했는지 안다.</a:t>
            </a:r>
            <a:endParaRPr lang="en-US" sz="14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진로이론 100년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네 명의 이론가, 네 가지 관점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42316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0020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1908~1909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파슨스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77240" y="42519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A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특성-요인론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42316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1959~1997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홀랜드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611880" y="42519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AF2F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52044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RIASEC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69480" y="242316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694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1957~1990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수퍼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46520" y="42519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EAF2F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5508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생애발달이론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0" y="210312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C07A10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0104120" y="2423160"/>
            <a:ext cx="502920" cy="50292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10412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1999~2009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35661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크럼볼츠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9281160" y="4251960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189720" y="4251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 우연학습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623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HLT는 앞선 세 이론을 딛고 서 있다 — 다음 슬라이드에서 하나씩 살펴본다.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파슨스 &amp; 홀랜드 — 매칭의 두 얼굴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A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86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파슨스 · 특성-요인론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1908년 보스턴 직업안내국 설립. 저서 《Choosing a Vocation》(1909)에서 3단계 공식을 제시했다.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4348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51560" y="443484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"자신을 알고, 직업 세계를 알고,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둘을 합리적으로 연결하라."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5257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오늘날 대학 진로 프로그램 상당수가 여전히 이 틀 위에 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182880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EAF2F1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210312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22860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537960" y="30175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홀랜드 · RIASEC 모델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6537960" y="34747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성격을 6가지 유형으로, 직업 환경도 같은 틀로 분류해 매칭의 정확도를 높였다.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6537960" y="44348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현실형 · I 탐구형 · A 예술형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사회형 · E 진취형 · C 관습형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6537960" y="52578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한국의 직업흥미검사·커리어넷 적성검사 대부분이 이 틀을 기반으로 한다.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개념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수퍼 — 진로는 평생에 걸친 발달이다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도널드 수퍼는 진로를 어느 순간 "결정"되는 것이 아니라, 평생에 걸쳐 단계적으로 "발달"하는 과정으로 봤다.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EAF2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587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성장기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97480" y="24231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88920" y="2587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2단계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탐색기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15~24세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EAF2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587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3단계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확립기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25~44세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995160" y="24231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EAF2F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86600" y="2587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4단계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유지기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45~64세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915400" y="310896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44000" y="2423160"/>
            <a:ext cx="1965960" cy="1965960"/>
          </a:xfrm>
          <a:prstGeom prst="roundRect">
            <a:avLst>
              <a:gd name="adj" fmla="val 4651"/>
            </a:avLst>
          </a:prstGeom>
          <a:solidFill>
            <a:srgbClr val="EAF2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35440" y="258775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5단계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2354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쇠퇴기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235440" y="3520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65세~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617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1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대학생인 당신은 지금 "탐색기"의 한가운데에 있다.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48640" y="52120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05353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2960" y="5212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수퍼 이론의 공헌: 진로를 "결정의 순간"이 아니라 "발달의 과정"으로 본 것.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이론의 사각지대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공통된 한계 — 불확실한 세계에서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84832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58568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9933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파슨스·홀랜드의 한계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37744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사람의 특성과 직업 환경이 "안정적"이라는 전제 위에 서 있다. 직업 지형 자체가 AI로 빠르게 흔들리고 있다.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502152"/>
            <a:ext cx="731520" cy="731520"/>
          </a:xfrm>
          <a:prstGeom prst="ellipse">
            <a:avLst/>
          </a:prstGeom>
          <a:solidFill>
            <a:srgbClr val="EAF2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675888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828800" y="341071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535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수퍼 이론의 한계</a:t>
            </a:r>
            <a:endParaRPr lang="en-US" sz="1550" dirty="0"/>
          </a:p>
        </p:txBody>
      </p:sp>
      <p:sp>
        <p:nvSpPr>
          <p:cNvPr id="13" name="Text 9"/>
          <p:cNvSpPr txBox="1"/>
          <p:nvPr/>
        </p:nvSpPr>
        <p:spPr>
          <a:xfrm>
            <a:off x="1828800" y="37947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발달 단계가 "순차적"으로 진행된다고 본다. 오늘날 경력 전환은 비선형적이고, 단계를 되돌아오는 것이 일상이 됐다.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C07A10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919472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093208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828800" y="482803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이론 모두의 사각지대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1828800" y="521208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"우연"의 역할을 충분히 담아내지 못한다. 예상치 못한 만남과 기회가 진로에 미치는 결정적 영향을 설명하지 못한다.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HLT의 등장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우연은 제거할 변수가 아니라, 자원이다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0A4A50"/>
          </a:solidFill>
          <a:ln w="12700">
            <a:solidFill>
              <a:srgbClr val="15615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94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07A1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1999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Mitchell, Levin &amp; Krumboltz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9E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우연은 제거해야 할 변수가 아니라, 적극적으로 활용해야 할 자원이라고 선언했다.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2926080"/>
          </a:xfrm>
          <a:prstGeom prst="roundRect">
            <a:avLst>
              <a:gd name="adj" fmla="val 3125"/>
            </a:avLst>
          </a:prstGeom>
          <a:solidFill>
            <a:srgbClr val="C07A1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37960" y="2194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2009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Krumboltz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333756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이를 완전한 이론 체계로 완성했다. 그것이 우연학습이론(Happenstance Learning Theory, HLT)이다.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353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HLT는 무엇을 더하는가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AF2F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2311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1783080"/>
            <a:ext cx="9509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0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HLT는 파슨스, 홀랜드, 수퍼의 이론을 부정하지 않는다. 오히려 그 위에 서 있다.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246120"/>
            <a:ext cx="11064240" cy="2057400"/>
          </a:xfrm>
          <a:prstGeom prst="roundRect">
            <a:avLst>
              <a:gd name="adj" fmla="val 5333"/>
            </a:avLst>
          </a:prstGeom>
          <a:solidFill>
            <a:srgbClr val="05353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3474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다만 한 가지를 더한다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8620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진로는 매칭도, 단계적 발달도 아니라 —</a:t>
            </a:r>
            <a:endParaRPr lang="en-US" sz="2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예측 불가능한 우연들을 어떻게 기회로 전환하느냐의 과정이다.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장에서 그 선언을 본격적으로 들여다본다.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87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35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941832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토론 &amp; 활동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토론 질문 &amp; 수업 활동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196596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486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187452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나에게 익숙한 진로 검사·상담은 파슨스·홀랜드·수퍼 중 어떤 틀에 가장 가까운가?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48640" y="2926080"/>
            <a:ext cx="594360" cy="59436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83464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 틀로는 설명되지 않는 나의 진로 경험이 있는가?</a:t>
            </a:r>
            <a:endParaRPr lang="en-US" sz="165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6154"/>
            </a:avLst>
          </a:prstGeom>
          <a:solidFill>
            <a:srgbClr val="C07A1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43891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활동 · 나의 검사 결과 돌아보기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75488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자신이 받아본 적성·진로 검사를 떠올려보고, 그 검사가 놓친 "우연"의 순간을 짝과 이야기해본다.</a:t>
            </a:r>
            <a:endParaRPr lang="en-US" sz="17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2장 · 진로이론 지도 — HLT가 서 있는 자리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2B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C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핵심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2장 요약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6596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진로이론은 파슨스(매칭) → 홀랜드(유형) → 수퍼(발달) → 크럼볼츠(우연) 순으로 확장돼 왔다.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8346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고전 이론은 안정성·순차성을 전제해, 우연의 역할을 담아내지 못했다.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C07A1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7033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E8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HLT는 이전 이론을 부정하지 않고, "우연을 기회로 전환하는 과정"이라는 관점을 더한다.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8595360" cy="1051560"/>
          </a:xfrm>
          <a:prstGeom prst="roundRect">
            <a:avLst>
              <a:gd name="adj" fmla="val 10435"/>
            </a:avLst>
          </a:prstGeom>
          <a:solidFill>
            <a:srgbClr val="C07A1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5074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시간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349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3장. 크럼볼츠의 혁명적 선언</a:t>
            </a:r>
            <a:endParaRPr lang="en-US" sz="19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530352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6080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이승원 | LEE SEUNG WON · Career Transition Lab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8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강의자료 문의: lswon@hansung.ac.kr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2026-09-22T04:07:02Z</dcterms:created>
  <dcterms:modified xsi:type="dcterms:W3CDTF">2026-09-22T04:07:02Z</dcterms:modified>
</cp:coreProperties>
</file>
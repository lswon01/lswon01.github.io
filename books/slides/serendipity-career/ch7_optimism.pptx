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32B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alphaModFix amt="12000"/>
          </a:blip>
          <a:stretch>
            <a:fillRect/>
          </a:stretch>
        </p:blipFill>
        <p:spPr>
          <a:xfrm>
            <a:off x="8778240" y="1463040"/>
            <a:ext cx="3108960" cy="31089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22960" y="1417320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07A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CAREER TRANSITION LAB · VOL.1 강의자료</a:t>
            </a:r>
            <a:endParaRPr lang="en-US" sz="1400" dirty="0"/>
          </a:p>
        </p:txBody>
      </p:sp>
      <p:sp>
        <p:nvSpPr>
          <p:cNvPr id="4" name="Text 1"/>
          <p:cNvSpPr txBox="1"/>
          <p:nvPr/>
        </p:nvSpPr>
        <p:spPr>
          <a:xfrm>
            <a:off x="777240" y="1965960"/>
            <a:ext cx="96012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우연이 만드는 진로</a:t>
            </a:r>
            <a:endParaRPr lang="en-US" sz="42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338328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C4D8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7장 · 낙관성 — 가능성을 현실로 보는 눈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822960" y="5212080"/>
            <a:ext cx="3749040" cy="566928"/>
          </a:xfrm>
          <a:prstGeom prst="roundRect">
            <a:avLst>
              <a:gd name="adj" fmla="val 19355"/>
            </a:avLst>
          </a:prstGeom>
          <a:solidFill>
            <a:srgbClr val="05353B"/>
          </a:solidFill>
          <a:ln w="12700">
            <a:solidFill>
              <a:srgbClr val="2E5A57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22960" y="5212080"/>
            <a:ext cx="3749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AF2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교강사용 미니 렉처 · 8~10분 분량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6172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8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이승원 | LEE SEUNG WON  ·  Career Transition Lab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07A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학습 목표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5353B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이 장에서 다룰 것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868680" cy="868680"/>
          </a:xfrm>
          <a:prstGeom prst="ellipse">
            <a:avLst/>
          </a:prstGeom>
          <a:solidFill>
            <a:srgbClr val="EAF2F1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5937" y="2100377"/>
            <a:ext cx="416966" cy="41696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783080" y="1856232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535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막연한 긍정과 탐색적 낙관성 구분하기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1783080" y="2295144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874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생각에서 멈추는 긍정과, 행동으로 이어지는 HLT의 낙관성을 가려낼 수 있다.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640080" y="3291840"/>
            <a:ext cx="868680" cy="868680"/>
          </a:xfrm>
          <a:prstGeom prst="ellipse">
            <a:avLst/>
          </a:prstGeom>
          <a:solidFill>
            <a:srgbClr val="EAF2F1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5937" y="3517697"/>
            <a:ext cx="416966" cy="416966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783080" y="3273552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535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불안을 탐색의 에너지로 전환하기</a:t>
            </a:r>
            <a:endParaRPr lang="en-US" sz="1800" dirty="0"/>
          </a:p>
        </p:txBody>
      </p:sp>
      <p:sp>
        <p:nvSpPr>
          <p:cNvPr id="11" name="Text 7"/>
          <p:cNvSpPr txBox="1"/>
          <p:nvPr/>
        </p:nvSpPr>
        <p:spPr>
          <a:xfrm>
            <a:off x="1783080" y="3712464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874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불안을 없애려 하지 않고, 가능성 쪽으로 시선을 돌리는 연습을 익힌다.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640080" y="4709160"/>
            <a:ext cx="868680" cy="868680"/>
          </a:xfrm>
          <a:prstGeom prst="ellipse">
            <a:avLst/>
          </a:prstGeom>
          <a:solidFill>
            <a:srgbClr val="EAF2F1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5937" y="4935017"/>
            <a:ext cx="416966" cy="416966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783080" y="4690872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535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결과가 아닌 과정에 대한 낙관 갖기</a:t>
            </a:r>
            <a:endParaRPr lang="en-US" sz="1800" dirty="0"/>
          </a:p>
        </p:txBody>
      </p:sp>
      <p:sp>
        <p:nvSpPr>
          <p:cNvPr id="15" name="Text 10"/>
          <p:cNvSpPr txBox="1"/>
          <p:nvPr/>
        </p:nvSpPr>
        <p:spPr>
          <a:xfrm>
            <a:off x="1783080" y="5129784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874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결과와 무관하게 흔들리지 않는 낙관성의 태도를 이해한다.</a:t>
            </a:r>
            <a:endParaRPr lang="en-US" sz="1400" dirty="0"/>
          </a:p>
        </p:txBody>
      </p:sp>
      <p:sp>
        <p:nvSpPr>
          <p:cNvPr id="16" name="Text 11"/>
          <p:cNvSpPr txBox="1"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874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7장 · 낙관성 — 가능성을 현실로 보는 눈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07A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핵심 개념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0789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5353B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막연한 긍정과 탐색적 낙관성의 차이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11064240" cy="960120"/>
          </a:xfrm>
          <a:prstGeom prst="roundRect">
            <a:avLst>
              <a:gd name="adj" fmla="val 9524"/>
            </a:avLst>
          </a:prstGeom>
          <a:solidFill>
            <a:srgbClr val="EAF2F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1691640"/>
            <a:ext cx="10424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i="1" dirty="0">
                <a:solidFill>
                  <a:srgbClr val="202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"새로운 기회를 가능하고 달성 가능한 것으로 바라보는 시선."</a:t>
            </a:r>
            <a:pPr indent="0" marL="0">
              <a:buNone/>
            </a:pPr>
            <a:r>
              <a:rPr lang="en-US" sz="1200" dirty="0">
                <a:solidFill>
                  <a:srgbClr val="6874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Krumboltz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548640" y="2926080"/>
            <a:ext cx="5394960" cy="2788920"/>
          </a:xfrm>
          <a:prstGeom prst="roundRect">
            <a:avLst>
              <a:gd name="adj" fmla="val 3279"/>
            </a:avLst>
          </a:prstGeom>
          <a:solidFill>
            <a:srgbClr val="EAF2F1"/>
          </a:solidFill>
          <a:ln w="12700">
            <a:solidFill>
              <a:srgbClr val="D7DFD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68680" y="3200400"/>
            <a:ext cx="777240" cy="77724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" y="3383280"/>
            <a:ext cx="411480" cy="41148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68680" y="411480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535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막연한 긍정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868680" y="4572000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i="1" dirty="0">
                <a:solidFill>
                  <a:srgbClr val="6874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생각에서 멈춘다.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i="1" dirty="0">
                <a:solidFill>
                  <a:srgbClr val="6874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"잘 될 거야. 어떻게든 되겠지."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6217920" y="2926080"/>
            <a:ext cx="5394960" cy="2788920"/>
          </a:xfrm>
          <a:prstGeom prst="roundRect">
            <a:avLst>
              <a:gd name="adj" fmla="val 3279"/>
            </a:avLst>
          </a:prstGeom>
          <a:solidFill>
            <a:srgbClr val="C07A10"/>
          </a:solidFill>
          <a:ln/>
        </p:spPr>
      </p:sp>
      <p:sp>
        <p:nvSpPr>
          <p:cNvPr id="12" name="Shape 9"/>
          <p:cNvSpPr/>
          <p:nvPr/>
        </p:nvSpPr>
        <p:spPr>
          <a:xfrm>
            <a:off x="6537960" y="3200400"/>
            <a:ext cx="777240" cy="77724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0840" y="3383280"/>
            <a:ext cx="411480" cy="411480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6537960" y="411480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탐색적 낙관성</a:t>
            </a:r>
            <a:endParaRPr lang="en-US" sz="1700" dirty="0"/>
          </a:p>
        </p:txBody>
      </p:sp>
      <p:sp>
        <p:nvSpPr>
          <p:cNvPr id="15" name="Text 11"/>
          <p:cNvSpPr txBox="1"/>
          <p:nvPr/>
        </p:nvSpPr>
        <p:spPr>
          <a:xfrm>
            <a:off x="6537960" y="4572000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i="1" dirty="0">
                <a:solidFill>
                  <a:srgbClr val="FFF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행동으로 이어진다.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i="1" dirty="0">
                <a:solidFill>
                  <a:srgbClr val="FFF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"가능할 수도 있다. 어떻게 접근해볼까?"</a:t>
            </a:r>
            <a:endParaRPr lang="en-US" sz="1400" dirty="0"/>
          </a:p>
        </p:txBody>
      </p:sp>
      <p:sp>
        <p:nvSpPr>
          <p:cNvPr id="16" name="Text 12"/>
          <p:cNvSpPr txBox="1"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874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7장 · 낙관성 — 가능성을 현실로 보는 눈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32B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DC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핵심 개념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0789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불안을 탐색의 에너지로 전환하기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0020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50" dirty="0">
                <a:solidFill>
                  <a:srgbClr val="D9E7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Krumboltz(2009)는 진로에 대한 불안을 없애려 하지 말고, 탐색의 출발점으로 삼으라고 제안했다.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48640" y="2377440"/>
            <a:ext cx="11064240" cy="1188720"/>
          </a:xfrm>
          <a:prstGeom prst="roundRect">
            <a:avLst>
              <a:gd name="adj" fmla="val 7692"/>
            </a:avLst>
          </a:prstGeom>
          <a:solidFill>
            <a:srgbClr val="0A4A50"/>
          </a:solidFill>
          <a:ln w="12700">
            <a:solidFill>
              <a:srgbClr val="15615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68680" y="2377440"/>
            <a:ext cx="10424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불안은 신호다. "나는 이것이 중요하다"는 신호. 문제는 불안이 너무 커져서 행동을 막아버릴 때다.</a:t>
            </a:r>
            <a:endParaRPr lang="en-US" sz="15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79476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50" dirty="0">
                <a:solidFill>
                  <a:srgbClr val="D9E7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탐색적 낙관성은 불안을 지우는 것이 아니라, 불안이 있는 채로 가능성 쪽으로 시선을 돌리는 연습이다.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48640" y="461772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C07A1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22960" y="4617720"/>
            <a:ext cx="10515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5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"이게 잘 안 될 수도 있어. 그런데 한번 알아보면 어떨까?" — 이 작은 전환이, 행동을 만든다.</a:t>
            </a:r>
            <a:endParaRPr lang="en-US" sz="165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9CD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7장 · 낙관성 — 가능성을 현실로 보는 눈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07A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핵심 개념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5353B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낙관성은 결과가 아니라 과정에 대한 태도다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5394960" cy="2377440"/>
          </a:xfrm>
          <a:prstGeom prst="roundRect">
            <a:avLst>
              <a:gd name="adj" fmla="val 3846"/>
            </a:avLst>
          </a:prstGeom>
          <a:solidFill>
            <a:srgbClr val="EAF2F1"/>
          </a:solidFill>
          <a:ln w="12700">
            <a:solidFill>
              <a:srgbClr val="D7DFD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219456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535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결과에 대한 낙관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697480"/>
            <a:ext cx="47548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450" dirty="0">
                <a:solidFill>
                  <a:srgbClr val="6874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"잘 될 거야"라는 기대. 결과가 나쁘면 무너진다.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6217920" y="1920240"/>
            <a:ext cx="5394960" cy="2377440"/>
          </a:xfrm>
          <a:prstGeom prst="roundRect">
            <a:avLst>
              <a:gd name="adj" fmla="val 3846"/>
            </a:avLst>
          </a:prstGeom>
          <a:solidFill>
            <a:srgbClr val="C07A10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537960" y="219456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과정에 대한 낙관 (HLT)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6537960" y="2697480"/>
            <a:ext cx="47548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450" dirty="0">
                <a:solidFill>
                  <a:srgbClr val="FFF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"이 탐색이 어떤 결과를 만들지는 모르지만, 해볼 만한 가치가 있다." 결과가 어떻든 흔들리지 않는다.</a:t>
            </a:r>
            <a:endParaRPr lang="en-US" sz="145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46177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i="1" dirty="0">
                <a:solidFill>
                  <a:srgbClr val="815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낙관성이 없으면 호기심도, 인내심도, 유연성도 작동하기 어렵다.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874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7장 · 낙관성 — 가능성을 현실로 보는 눈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AF2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07A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실천 과제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0789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5353B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작은 것부터, 조금 더 나아가면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539496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/>
        </p:spPr>
      </p:sp>
      <p:sp>
        <p:nvSpPr>
          <p:cNvPr id="5" name="Shape 3"/>
          <p:cNvSpPr/>
          <p:nvPr/>
        </p:nvSpPr>
        <p:spPr>
          <a:xfrm>
            <a:off x="868680" y="2103120"/>
            <a:ext cx="731520" cy="731520"/>
          </a:xfrm>
          <a:prstGeom prst="ellipse">
            <a:avLst/>
          </a:prstGeom>
          <a:solidFill>
            <a:srgbClr val="EAF2F1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2416" y="2276856"/>
            <a:ext cx="384048" cy="38404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68680" y="297180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35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작은 것부터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3383280"/>
            <a:ext cx="47548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202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오늘 "어차피 안 되겠지" 생각했던 순간을 "한번 알아보면 어떨까?"로 바꿔서 다시 말해보기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202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지금 불안한 것이 있다면 질문으로 바꿔보기: "○○이 걱정된다" → "○○에 대해 내가 알아볼 수 있는 것은?"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217920" y="1828800"/>
            <a:ext cx="5394960" cy="3291840"/>
          </a:xfrm>
          <a:prstGeom prst="roundRect">
            <a:avLst>
              <a:gd name="adj" fmla="val 2778"/>
            </a:avLst>
          </a:prstGeom>
          <a:solidFill>
            <a:srgbClr val="C07A10"/>
          </a:solidFill>
          <a:ln/>
        </p:spPr>
      </p:sp>
      <p:sp>
        <p:nvSpPr>
          <p:cNvPr id="10" name="Shape 7"/>
          <p:cNvSpPr/>
          <p:nvPr/>
        </p:nvSpPr>
        <p:spPr>
          <a:xfrm>
            <a:off x="6537960" y="2103120"/>
            <a:ext cx="731520" cy="7315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11696" y="2276856"/>
            <a:ext cx="384048" cy="384048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6537960" y="297180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조금 더 나아가면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6537960" y="3383280"/>
            <a:ext cx="47548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FFF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"나는 못 할 것 같아서" 시도 안 한 분야의, 실제 그 일을 하는 사람의 이야기 찾아보기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FFF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이번 학기 중 "탐색 자체가 목적인 행동" 하나를 정해보기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874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7장 · 낙관성 — 가능성을 현실로 보는 눈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535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alphaModFix amt="22000"/>
          </a:blip>
          <a:stretch>
            <a:fillRect/>
          </a:stretch>
        </p:blipFill>
        <p:spPr>
          <a:xfrm>
            <a:off x="9418320" y="502920"/>
            <a:ext cx="1737360" cy="17373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4114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DC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토론 &amp; 활동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77724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토론 질문 &amp; 수업 활동</a:t>
            </a:r>
            <a:endParaRPr lang="en-US" sz="3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7830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07A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성찰 질문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548640" y="2148840"/>
            <a:ext cx="11064240" cy="1234440"/>
          </a:xfrm>
          <a:prstGeom prst="roundRect">
            <a:avLst>
              <a:gd name="adj" fmla="val 7407"/>
            </a:avLst>
          </a:prstGeom>
          <a:solidFill>
            <a:srgbClr val="0A4A50"/>
          </a:solidFill>
          <a:ln w="12700">
            <a:solidFill>
              <a:srgbClr val="156158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68680" y="2148840"/>
            <a:ext cx="104241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지금 내가 갖고 있는 낙관성은 "잘 될 거야"라는 결과에 대한 낙관인가, 아니면 "해볼 만하다"는 과정에 대한 낙관인가?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548640" y="3703320"/>
            <a:ext cx="11064240" cy="2194560"/>
          </a:xfrm>
          <a:prstGeom prst="roundRect">
            <a:avLst>
              <a:gd name="adj" fmla="val 5000"/>
            </a:avLst>
          </a:prstGeom>
          <a:solidFill>
            <a:srgbClr val="C07A10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914400" y="393192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E9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활동 · 불안을 질문으로 바꾸기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914400" y="4297680"/>
            <a:ext cx="10332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지금 진로 때문에 불안한 것 하나를 짝에게 말하고, "그렇다면 무엇을 알아볼 수 있을까?"로 함께 바꿔본다.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9CD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7장 · 낙관성 — 가능성을 현실로 보는 눈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32B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DC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오늘의 핵심 정리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7장 요약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411480" cy="411480"/>
          </a:xfrm>
          <a:prstGeom prst="ellipse">
            <a:avLst/>
          </a:prstGeom>
          <a:solidFill>
            <a:srgbClr val="C07A1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20116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965960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50" dirty="0">
                <a:solidFill>
                  <a:srgbClr val="E8F0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막연한 긍정은 생각에서 멈추지만, 탐색적 낙관성은 행동으로 이어진다.</a:t>
            </a:r>
            <a:endParaRPr lang="en-US" sz="1550" dirty="0"/>
          </a:p>
        </p:txBody>
      </p:sp>
      <p:sp>
        <p:nvSpPr>
          <p:cNvPr id="7" name="Shape 5"/>
          <p:cNvSpPr/>
          <p:nvPr/>
        </p:nvSpPr>
        <p:spPr>
          <a:xfrm>
            <a:off x="548640" y="2880360"/>
            <a:ext cx="411480" cy="411480"/>
          </a:xfrm>
          <a:prstGeom prst="ellipse">
            <a:avLst/>
          </a:prstGeom>
          <a:solidFill>
            <a:srgbClr val="C07A10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28803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188720" y="2834640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50" dirty="0">
                <a:solidFill>
                  <a:srgbClr val="E8F0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불안은 신호다. 없애려 하지 말고, 가능성 쪽으로 시선을 돌리는 연습이 필요하다.</a:t>
            </a:r>
            <a:endParaRPr lang="en-US" sz="1550" dirty="0"/>
          </a:p>
        </p:txBody>
      </p:sp>
      <p:sp>
        <p:nvSpPr>
          <p:cNvPr id="10" name="Shape 8"/>
          <p:cNvSpPr/>
          <p:nvPr/>
        </p:nvSpPr>
        <p:spPr>
          <a:xfrm>
            <a:off x="548640" y="3749040"/>
            <a:ext cx="411480" cy="411480"/>
          </a:xfrm>
          <a:prstGeom prst="ellipse">
            <a:avLst/>
          </a:prstGeom>
          <a:solidFill>
            <a:srgbClr val="C07A1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37490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188720" y="3703320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50" dirty="0">
                <a:solidFill>
                  <a:srgbClr val="E8F0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낙관성은 결과가 아니라 과정에 대한 태도다 — 해볼 만한 가치가 있다는 것.</a:t>
            </a:r>
            <a:endParaRPr lang="en-US" sz="1550" dirty="0"/>
          </a:p>
        </p:txBody>
      </p:sp>
      <p:sp>
        <p:nvSpPr>
          <p:cNvPr id="13" name="Shape 11"/>
          <p:cNvSpPr/>
          <p:nvPr/>
        </p:nvSpPr>
        <p:spPr>
          <a:xfrm>
            <a:off x="548640" y="4892040"/>
            <a:ext cx="8229600" cy="1051560"/>
          </a:xfrm>
          <a:prstGeom prst="roundRect">
            <a:avLst>
              <a:gd name="adj" fmla="val 10435"/>
            </a:avLst>
          </a:prstGeom>
          <a:solidFill>
            <a:srgbClr val="C07A1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68680" y="50749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E9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다음 시간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868680" y="534924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8장. 위험감수 — 일단 해보는 것</a:t>
            </a:r>
            <a:endParaRPr lang="en-US" sz="1800" dirty="0"/>
          </a:p>
        </p:txBody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83880" y="5303520"/>
            <a:ext cx="457200" cy="457200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548640" y="60807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8FA8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이승원 | LEE SEUNG WON · Career Transition Lab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8FA8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강의자료 문의: lswon@hansung.ac.kr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2026-09-22T07:09:54Z</dcterms:created>
  <dcterms:modified xsi:type="dcterms:W3CDTF">2026-09-22T07:09:54Z</dcterms:modified>
</cp:coreProperties>
</file>
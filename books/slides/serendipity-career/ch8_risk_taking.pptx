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8778240" y="1463040"/>
            <a:ext cx="3108960" cy="3108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14173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TRANSITION LAB · VOL.1 강의자료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1965960"/>
            <a:ext cx="9601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우연이 만드는 진로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383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4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8장 · 위험감수 — 불확실해도 일단 해보는 것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822960" y="5212080"/>
            <a:ext cx="3749040" cy="566928"/>
          </a:xfrm>
          <a:prstGeom prst="roundRect">
            <a:avLst>
              <a:gd name="adj" fmla="val 19355"/>
            </a:avLst>
          </a:prstGeom>
          <a:solidFill>
            <a:srgbClr val="05353B"/>
          </a:solidFill>
          <a:ln w="12700">
            <a:solidFill>
              <a:srgbClr val="2E5A5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521208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교강사용 미니 렉처 · 8~10분 분량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이승원 | LEE SEUNG WON  ·  Career Transition Lab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목표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이 장에서 다룰 것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937" y="2100377"/>
            <a:ext cx="416966" cy="41696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85623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크럼볼츠의 위험감수 정의 이해하기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9514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거창한 모험이 아니라, 완벽하지 않아도 일단 시도하는 것임을 안다.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329184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937" y="3517697"/>
            <a:ext cx="416966" cy="41696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783080" y="327355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"완벽한 준비"라는 환상 깨기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1783080" y="371246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준비가 되면 시작하는 게 아니라, 시작하면서 준비된다는 것을 이해한다.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470916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937" y="4935017"/>
            <a:ext cx="416966" cy="41696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783080" y="46908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위험감수와 무모함을 구분하기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1783080" y="512978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시도해서 실패할 위험과, 시도하지 않아서 놓치는 위험을 함께 인식한다.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8장 · 위험감수 — 불확실해도 일단 해보는 것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오프닝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쏘지 않은 슛은 100% 실패한다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2103120"/>
          </a:xfrm>
          <a:prstGeom prst="roundRect">
            <a:avLst>
              <a:gd name="adj" fmla="val 6087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10312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"You miss 100% of the shots you don't take."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0175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웨인 그레츠키의 말로 알려진, 영화 〈The Office〉에서 인용되며 전 세계적으로 회자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52044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E9C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번역하면: "쏘지 않은 슛은 100% 실패한다."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2519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지원서를 내지 않은 채 합격을 기다리는 사람은 없다. 도전했다가 실패한 경험은 자기소개서가 되고 면접의 언어가 된다. 그러나 시도하지 않은 경험은 아무것도 남기지 않는다.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훗날 더 깊이 후회하게 되는 것은 실패한 도전이 아니라, 하지 않은 도전이다.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8장 · 위험감수 — 불확실해도 일단 해보는 것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개념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"준비가 좀 더 되면 해볼게요"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상담실에서 자주 듣는 말이다. 영어 공부가 좀 더 되면, 학점이 좀 더 오르면… 그 "좀 더"는 언제 오는가.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EAF2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37744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i="1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"결과가 불확실해도 행동으로 옮기는 것.
</a:t>
            </a:r>
            <a:pPr indent="0" marL="0">
              <a:lnSpc>
                <a:spcPct val="130000"/>
              </a:lnSpc>
              <a:buNone/>
            </a:pPr>
            <a:r>
              <a:rPr lang="en-US" sz="1600" i="1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편안함의 경계를 넓혀 더 많이 배우는 것."
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Mitchell et al. (1999), 위험감수 정의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776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위험감수 ≠ 무모하게 뛰어드는 것. 한 번의 대담한 도약도 아니다.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4805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05353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448056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지금 익숙한 것에서 조금씩 바깥으로 나가는 연습이다.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8장 · 위험감수 — 불확실해도 일단 해보는 것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강의실 이야기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80점짜리 아이디어를 먼저 꺼내보라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26060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57400"/>
            <a:ext cx="685800" cy="68580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2212848"/>
            <a:ext cx="374904" cy="37490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2011680"/>
            <a:ext cx="96012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학생들에게 자주 하는 말이 있다. "완벽한 기획서보다 80점짜리 아이디어를 먼저 꺼내보라." 처음엔 다들 어색해한다. "부족한 걸 보여주면 어떡하죠?"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그런데 80점짜리를 꺼내면 나머지 20점을 함께 채울 수 있다. 반면 완벽해질 때까지 기다리면 타이밍을 놓친다. 진로에서도 마찬가지다.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663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b="1" i="1" dirty="0">
                <a:solidFill>
                  <a:srgbClr val="81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위험감수를 훈련하는 가장 좋은 방법은 크게 한 번 도전하는 것이 아니라, 작은 불편함을 자주 경험하는 것이다.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8장 · 위험감수 — 불확실해도 일단 해보는 것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저자의 경험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준비되어서 시작한 게 아니었다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2651760"/>
          </a:xfrm>
          <a:prstGeom prst="roundRect">
            <a:avLst>
              <a:gd name="adj" fmla="val 3448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65960"/>
            <a:ext cx="10424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2019년 말 퇴직 후 교수 임용 제안을 받았을 때 솔직히 두려웠다. 기업에서 온 사람이 강단에 선다는 것, 전혀 다른 세계였다. 준비가 됐다는 느낌은 없었다.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그런데 그 제안을 받아들이지 않았다면, 지금 이 책도, 수백 명의 학생들과의 대화도 없었을 것이다.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457200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C07A1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45720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위험감수는 준비가 됐을 때 시작하는 것이 아니라, 시작하면서 준비되는 것이다.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8장 · 위험감수 — 불확실해도 일단 해보는 것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실천 과제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작은 것부터, 조금 더 나아가면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03120"/>
            <a:ext cx="731520" cy="73152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276856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971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작은 것부터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383280"/>
            <a:ext cx="4754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이번 주 안에 평소 불편해서 미뤄왔던 것 하나 실행해보기 — 이메일 한 통, 질문 하나, 신청 하나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오늘 수업이나 회의에서 발언 기회가 생기면 한 번 자원해보기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17920" y="1828800"/>
            <a:ext cx="5394960" cy="3291840"/>
          </a:xfrm>
          <a:prstGeom prst="roundRect">
            <a:avLst>
              <a:gd name="adj" fmla="val 2778"/>
            </a:avLst>
          </a:prstGeom>
          <a:solidFill>
            <a:srgbClr val="C07A10"/>
          </a:solidFill>
          <a:ln/>
        </p:spPr>
      </p:sp>
      <p:sp>
        <p:nvSpPr>
          <p:cNvPr id="10" name="Shape 7"/>
          <p:cNvSpPr/>
          <p:nvPr/>
        </p:nvSpPr>
        <p:spPr>
          <a:xfrm>
            <a:off x="6537960" y="210312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696" y="227685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537960" y="2971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조금 더 나아가면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3383280"/>
            <a:ext cx="4754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"아직 준비가 안 됐다"는 이유로 미루고 있는 것을 찾아, 가장 작은 첫 행동만 해보기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스펙이 조금 부족하다고 느끼는 곳에 한 번 지원해보기 — 결과보다 지원 자체가 목적이다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8장 · 위험감수 — 불확실해도 일단 해보는 것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35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9418320" y="502920"/>
            <a:ext cx="1737360" cy="1737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토론 &amp; 활동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토론 질문 &amp; 수업 활동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83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성찰 질문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214884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2148840"/>
            <a:ext cx="10424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내가 "준비가 되면 하겠다"고 미루고 있는 것들을 떠올려보라. 그것을 기다리는 동안 놓치고 있는 기회가 있다면 무엇인가?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548640" y="3703320"/>
            <a:ext cx="11064240" cy="2194560"/>
          </a:xfrm>
          <a:prstGeom prst="roundRect">
            <a:avLst>
              <a:gd name="adj" fmla="val 5000"/>
            </a:avLst>
          </a:prstGeom>
          <a:solidFill>
            <a:srgbClr val="C07A1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39319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E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활동 · 80점 꺼내보기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429768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지금 미뤄온 계획 하나를 "80점" 상태 그대로 짝에게 말해본다. 완성도가 아니라 꺼내보는 것 자체가 활동의 목적이다.</a:t>
            </a:r>
            <a:endParaRPr lang="en-US" sz="165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8장 · 위험감수 — 불확실해도 일단 해보는 것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2부를 마치며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다섯 기술은 함께 작동한다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057400" cy="2194560"/>
          </a:xfrm>
          <a:prstGeom prst="roundRect">
            <a:avLst>
              <a:gd name="adj" fmla="val 4444"/>
            </a:avLst>
          </a:prstGeom>
          <a:solidFill>
            <a:srgbClr val="05353B"/>
          </a:solidFill>
          <a:ln/>
        </p:spPr>
      </p:sp>
      <p:sp>
        <p:nvSpPr>
          <p:cNvPr id="5" name="Shape 3"/>
          <p:cNvSpPr/>
          <p:nvPr/>
        </p:nvSpPr>
        <p:spPr>
          <a:xfrm>
            <a:off x="1234440" y="2221992"/>
            <a:ext cx="685800" cy="685800"/>
          </a:xfrm>
          <a:prstGeom prst="ellipse">
            <a:avLst/>
          </a:prstGeom>
          <a:solidFill>
            <a:srgbClr val="0A4A5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9888" y="2377440"/>
            <a:ext cx="374904" cy="37490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30632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호기심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47472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4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탐색한다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2587752" y="2743200"/>
            <a:ext cx="219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788920" y="1965960"/>
            <a:ext cx="2057400" cy="2194560"/>
          </a:xfrm>
          <a:prstGeom prst="roundRect">
            <a:avLst>
              <a:gd name="adj" fmla="val 4444"/>
            </a:avLst>
          </a:prstGeom>
          <a:solidFill>
            <a:srgbClr val="05353B"/>
          </a:solidFill>
          <a:ln/>
        </p:spPr>
      </p:sp>
      <p:sp>
        <p:nvSpPr>
          <p:cNvPr id="11" name="Shape 8"/>
          <p:cNvSpPr/>
          <p:nvPr/>
        </p:nvSpPr>
        <p:spPr>
          <a:xfrm>
            <a:off x="3474720" y="2221992"/>
            <a:ext cx="685800" cy="685800"/>
          </a:xfrm>
          <a:prstGeom prst="ellipse">
            <a:avLst/>
          </a:prstGeom>
          <a:solidFill>
            <a:srgbClr val="0A4A5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2377440"/>
            <a:ext cx="374904" cy="37490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880360" y="30632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인내심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2880360" y="347472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4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이어간다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4828032" y="2743200"/>
            <a:ext cx="219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029200" y="1965960"/>
            <a:ext cx="2057400" cy="2194560"/>
          </a:xfrm>
          <a:prstGeom prst="roundRect">
            <a:avLst>
              <a:gd name="adj" fmla="val 4444"/>
            </a:avLst>
          </a:prstGeom>
          <a:solidFill>
            <a:srgbClr val="05353B"/>
          </a:solidFill>
          <a:ln/>
        </p:spPr>
      </p:sp>
      <p:sp>
        <p:nvSpPr>
          <p:cNvPr id="17" name="Shape 13"/>
          <p:cNvSpPr/>
          <p:nvPr/>
        </p:nvSpPr>
        <p:spPr>
          <a:xfrm>
            <a:off x="5715000" y="2221992"/>
            <a:ext cx="685800" cy="685800"/>
          </a:xfrm>
          <a:prstGeom prst="ellipse">
            <a:avLst/>
          </a:prstGeom>
          <a:solidFill>
            <a:srgbClr val="0A4A50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0448" y="2377440"/>
            <a:ext cx="374904" cy="37490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120640" y="30632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유연성</a:t>
            </a:r>
            <a:endParaRPr lang="en-US" sz="1450" dirty="0"/>
          </a:p>
        </p:txBody>
      </p:sp>
      <p:sp>
        <p:nvSpPr>
          <p:cNvPr id="20" name="Text 15"/>
          <p:cNvSpPr txBox="1"/>
          <p:nvPr/>
        </p:nvSpPr>
        <p:spPr>
          <a:xfrm>
            <a:off x="5120640" y="347472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4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계속 나아간다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7068312" y="2743200"/>
            <a:ext cx="219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7269480" y="1965960"/>
            <a:ext cx="2057400" cy="2194560"/>
          </a:xfrm>
          <a:prstGeom prst="roundRect">
            <a:avLst>
              <a:gd name="adj" fmla="val 4444"/>
            </a:avLst>
          </a:prstGeom>
          <a:solidFill>
            <a:srgbClr val="05353B"/>
          </a:solidFill>
          <a:ln/>
        </p:spPr>
      </p:sp>
      <p:sp>
        <p:nvSpPr>
          <p:cNvPr id="23" name="Shape 18"/>
          <p:cNvSpPr/>
          <p:nvPr/>
        </p:nvSpPr>
        <p:spPr>
          <a:xfrm>
            <a:off x="7955280" y="2221992"/>
            <a:ext cx="685800" cy="685800"/>
          </a:xfrm>
          <a:prstGeom prst="ellipse">
            <a:avLst/>
          </a:prstGeom>
          <a:solidFill>
            <a:srgbClr val="0A4A50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0728" y="2377440"/>
            <a:ext cx="374904" cy="37490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60920" y="30632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낙관성</a:t>
            </a:r>
            <a:endParaRPr lang="en-US" sz="1450" dirty="0"/>
          </a:p>
        </p:txBody>
      </p:sp>
      <p:sp>
        <p:nvSpPr>
          <p:cNvPr id="26" name="Text 20"/>
          <p:cNvSpPr txBox="1"/>
          <p:nvPr/>
        </p:nvSpPr>
        <p:spPr>
          <a:xfrm>
            <a:off x="7360920" y="347472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4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가능성을 본다</a:t>
            </a:r>
            <a:endParaRPr lang="en-US" sz="1150" dirty="0"/>
          </a:p>
        </p:txBody>
      </p:sp>
      <p:sp>
        <p:nvSpPr>
          <p:cNvPr id="27" name="Text 21"/>
          <p:cNvSpPr txBox="1"/>
          <p:nvPr/>
        </p:nvSpPr>
        <p:spPr>
          <a:xfrm>
            <a:off x="9308592" y="2743200"/>
            <a:ext cx="219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600" dirty="0"/>
          </a:p>
        </p:txBody>
      </p:sp>
      <p:sp>
        <p:nvSpPr>
          <p:cNvPr id="28" name="Shape 22"/>
          <p:cNvSpPr/>
          <p:nvPr/>
        </p:nvSpPr>
        <p:spPr>
          <a:xfrm>
            <a:off x="9509760" y="1965960"/>
            <a:ext cx="2057400" cy="2194560"/>
          </a:xfrm>
          <a:prstGeom prst="roundRect">
            <a:avLst>
              <a:gd name="adj" fmla="val 4444"/>
            </a:avLst>
          </a:prstGeom>
          <a:solidFill>
            <a:srgbClr val="05353B"/>
          </a:solidFill>
          <a:ln/>
        </p:spPr>
      </p:sp>
      <p:sp>
        <p:nvSpPr>
          <p:cNvPr id="29" name="Shape 23"/>
          <p:cNvSpPr/>
          <p:nvPr/>
        </p:nvSpPr>
        <p:spPr>
          <a:xfrm>
            <a:off x="10195560" y="2221992"/>
            <a:ext cx="685800" cy="685800"/>
          </a:xfrm>
          <a:prstGeom prst="ellipse">
            <a:avLst/>
          </a:prstGeom>
          <a:solidFill>
            <a:srgbClr val="0A4A50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51008" y="2377440"/>
            <a:ext cx="374904" cy="37490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601200" y="30632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위험감수</a:t>
            </a:r>
            <a:endParaRPr lang="en-US" sz="1450" dirty="0"/>
          </a:p>
        </p:txBody>
      </p:sp>
      <p:sp>
        <p:nvSpPr>
          <p:cNvPr id="32" name="Text 25"/>
          <p:cNvSpPr txBox="1"/>
          <p:nvPr/>
        </p:nvSpPr>
        <p:spPr>
          <a:xfrm>
            <a:off x="9601200" y="347472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4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행동으로 옮긴다</a:t>
            </a:r>
            <a:endParaRPr lang="en-US" sz="1150" dirty="0"/>
          </a:p>
        </p:txBody>
      </p:sp>
      <p:sp>
        <p:nvSpPr>
          <p:cNvPr id="33" name="Shape 26"/>
          <p:cNvSpPr/>
          <p:nvPr/>
        </p:nvSpPr>
        <p:spPr>
          <a:xfrm>
            <a:off x="548640" y="44348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C07A10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822960" y="443484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다섯 기술이 맞물려 돌아갈 때, 우연은 비로소 기회가 된다.</a:t>
            </a:r>
            <a:endParaRPr lang="en-US" sz="1900" dirty="0"/>
          </a:p>
        </p:txBody>
      </p:sp>
      <p:sp>
        <p:nvSpPr>
          <p:cNvPr id="35" name="Text 28"/>
          <p:cNvSpPr txBox="1"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 et al.(2014): 이 기술들은 측정 가능하고, 훈련으로 높일 수 있다.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8장 · 위험감수 — 불확실해도 일단 해보는 것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오늘의 핵심 정리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8장 요약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위험감수는 무모함이 아니라, 결과가 불확실해도 행동으로 옮기는 것이다.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48640" y="288036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8346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준비가 됐을 때 시작하는 것이 아니라, 시작하면서 준비된다.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48640" y="374904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749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70332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시도해서 실패할 위험보다, 시도하지 않아서 놓치는 위험을 더 크게 봐야 한다.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48640" y="4892040"/>
            <a:ext cx="9052560" cy="1051560"/>
          </a:xfrm>
          <a:prstGeom prst="roundRect">
            <a:avLst>
              <a:gd name="adj" fmla="val 10435"/>
            </a:avLst>
          </a:prstGeom>
          <a:solidFill>
            <a:srgbClr val="C07A1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5074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E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시간 · 3부 — 현실에서 우연 만들기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3492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9장. 유익한 우연을 설계하는 전략</a:t>
            </a:r>
            <a:endParaRPr lang="en-US" sz="19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5303520"/>
            <a:ext cx="457200" cy="4572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48640" y="6080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이승원 | LEE SEUNG WON · Career Transition Lab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강의자료 문의: lswon@hansung.ac.kr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Career Transition Lab by Lee Seung Won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우연이 만드는 진로 · 8장 위험감수</dc:title>
  <dc:subject>우연이 만드는 진로 챕터별 강의자료</dc:subject>
  <dc:creator>이승원</dc:creator>
  <cp:lastModifiedBy>이승원</cp:lastModifiedBy>
  <cp:revision>1</cp:revision>
  <dcterms:created xsi:type="dcterms:W3CDTF">2026-09-22T07:23:18Z</dcterms:created>
  <dcterms:modified xsi:type="dcterms:W3CDTF">2026-09-22T07:23:18Z</dcterms:modified>
</cp:coreProperties>
</file>
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778240" y="1463040"/>
            <a:ext cx="310896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4173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TRANSITION LAB · VOL.1 강의자료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9659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우연이 만드는 진로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383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4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9장 · 유익한 우연을 설계하는 전략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886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3부 — 현실에서 우연 만들기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" y="5212080"/>
            <a:ext cx="3749040" cy="566928"/>
          </a:xfrm>
          <a:prstGeom prst="roundRect">
            <a:avLst>
              <a:gd name="adj" fmla="val 19355"/>
            </a:avLst>
          </a:prstGeom>
          <a:solidFill>
            <a:srgbClr val="05353B"/>
          </a:solidFill>
          <a:ln w="12700">
            <a:solidFill>
              <a:srgbClr val="2E5A5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52120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교강사용 미니 렉처 · 8~10분 분량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이승원 | LEE SEUNG WON  ·  Career Transition Lab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목표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이 장에서 다룰 것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937" y="2100377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85623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우연을 설계하는 3가지 탐색 루틴 익히기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29514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낯선 곳 가기, 약한 연결 넓히기, 호기심을 행동으로 마감하기를 실천할 수 있다.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29184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37" y="3517697"/>
            <a:ext cx="416966" cy="4169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83080" y="327355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"약한 연결"의 힘을 이해하기</a:t>
            </a:r>
            <a:endParaRPr lang="en-US" sz="1750" dirty="0"/>
          </a:p>
        </p:txBody>
      </p:sp>
      <p:sp>
        <p:nvSpPr>
          <p:cNvPr id="11" name="Text 7"/>
          <p:cNvSpPr txBox="1"/>
          <p:nvPr/>
        </p:nvSpPr>
        <p:spPr>
          <a:xfrm>
            <a:off x="1783080" y="371246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그라노베터의 연구를 바탕으로 가까운 친구보다 지인이 왜 더 강력한지 설명한다.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470916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7" y="4935017"/>
            <a:ext cx="416966" cy="41696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783080" y="469087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탐색 인터뷰를 실제로 요청해보기</a:t>
            </a:r>
            <a:endParaRPr lang="en-US" sz="1750" dirty="0"/>
          </a:p>
        </p:txBody>
      </p:sp>
      <p:sp>
        <p:nvSpPr>
          <p:cNvPr id="15" name="Text 10"/>
          <p:cNvSpPr txBox="1"/>
          <p:nvPr/>
        </p:nvSpPr>
        <p:spPr>
          <a:xfrm>
            <a:off x="1783080" y="512978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4단계 구조로 관심 분야의 사람에게 다가가는 법을 익힌다.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9장 · 유익한 우연을 설계하는 전략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오프닝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우연은 기다리는 것이 아니다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D9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우연을 미리 예약할 수는 없다. 그런데 이것은 가능하다 — 우연이 찾아올 가능성을 높이는 조건을 만드는 것.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1064240" cy="2286000"/>
          </a:xfrm>
          <a:prstGeom prst="roundRect">
            <a:avLst>
              <a:gd name="adj" fmla="val 5600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67528" y="3063240"/>
            <a:ext cx="822960" cy="822960"/>
          </a:xfrm>
          <a:prstGeom prst="ellipse">
            <a:avLst/>
          </a:prstGeom>
          <a:solidFill>
            <a:srgbClr val="C07A1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0408" y="32461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40233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씨앗을 심는다고 해서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언제 싹이 틀지 알 수는 없다.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하지만 씨앗을 심지 않으면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싹이 틀 가능성 자체가 없다.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9장 · 유익한 우연을 설계하는 전략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탐색적 행동 3가지 루틴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EAF2F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2768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루틴 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16712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낯선 곳에 정기적으로 가기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2560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우연은 익숙한 공간에서는 좀처럼 일어나지 않는다. 매일 같은 강의실, 같은 카페, 같은 친구들 — 그 안에서는 새로운 것이 들어올 틈이 없다.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2918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EAF2F1"/>
          </a:solidFill>
          <a:ln/>
        </p:spPr>
      </p:sp>
      <p:sp>
        <p:nvSpPr>
          <p:cNvPr id="11" name="Shape 8"/>
          <p:cNvSpPr/>
          <p:nvPr/>
        </p:nvSpPr>
        <p:spPr>
          <a:xfrm>
            <a:off x="822960" y="36118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378561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828800" y="3429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루틴 2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828800" y="367588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약한 연결(weak ties) 넓히기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1828800" y="40690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가까운 친구는 나와 비슷한 정보를 갖고 있다. 가끔 만나는 지인은 전혀 다른 세계에 연결되어 있다.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48006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EAF2F1"/>
          </a:solidFill>
          <a:ln/>
        </p:spPr>
      </p:sp>
      <p:sp>
        <p:nvSpPr>
          <p:cNvPr id="17" name="Shape 13"/>
          <p:cNvSpPr/>
          <p:nvPr/>
        </p:nvSpPr>
        <p:spPr>
          <a:xfrm>
            <a:off x="822960" y="51206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529437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828800" y="4937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루틴 3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828800" y="51846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호기심을 행동으로 마감하기</a:t>
            </a:r>
            <a:endParaRPr lang="en-US" sz="1550" dirty="0"/>
          </a:p>
        </p:txBody>
      </p:sp>
      <p:sp>
        <p:nvSpPr>
          <p:cNvPr id="21" name="Text 16"/>
          <p:cNvSpPr txBox="1"/>
          <p:nvPr/>
        </p:nvSpPr>
        <p:spPr>
          <a:xfrm>
            <a:off x="1828800" y="55778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"한번 알아봐야겠다"는 생각에서 끝내지 않는다. 그날 저녁 관련 글 하나를 읽는 것이 다른 결과를 만든다.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9장 · 유익한 우연을 설계하는 전략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약한 연결(weak ties)의 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57400"/>
            <a:ext cx="731520" cy="73152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2311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01168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스탠퍼드 사회학자 마크 그라노베터(Mark Granovetter)는 1973년 연구에서, 새로운 취업 기회는 가까운 친구보다 "약한 연결" — 자주 만나지 않는 지인들 — 을 통해 더 많이 연결된다는 사실을 발견했다.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79476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7DFD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4023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가까운 친구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4805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나와 비슷한 정보와 네트워크를 갖고 있다.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17920" y="379476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C07A1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92240" y="4023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가끔 만나는 지인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44805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전혀 다른 세계에 연결되어 있다.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9장 · 유익한 우연을 설계하는 전략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도구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정보 탐색 인터뷰 — 4단계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직무나 분야에서 일하는 사람을 만나 대화하는 것. 취업 면접이 아니라, 그 사람의 경험과 세계를 이해하기 위한 대화다.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EAF2F1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606040"/>
            <a:ext cx="502920" cy="50292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 찾기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7490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선배·교수님 지인·링크드인·멘토. "완벽한 사람"이 아니라 "관심 분야에서 일하는 사람"이면 된다.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34747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83280" y="23774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EAF2F1"/>
          </a:solidFill>
          <a:ln/>
        </p:spPr>
      </p:sp>
      <p:sp>
        <p:nvSpPr>
          <p:cNvPr id="12" name="Shape 10"/>
          <p:cNvSpPr/>
          <p:nvPr/>
        </p:nvSpPr>
        <p:spPr>
          <a:xfrm>
            <a:off x="3611880" y="2606040"/>
            <a:ext cx="502920" cy="50292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118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연락하기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37490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"30분 정도 커피 한 잔 하며 이야기 들을 수 있을까요?" — 짧고 구체적인 요청이 응하기 쉽다.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34747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23774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EAF2F1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6520" y="2606040"/>
            <a:ext cx="502920" cy="50292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대화하기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37490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일을 시작한 계기는?" "생각과 달랐던 점은?" "다른 분을 소개해주실 수 있을까요?"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778240" y="34747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052560" y="23774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EAF2F1"/>
          </a:solidFill>
          <a:ln/>
        </p:spPr>
      </p:sp>
      <p:sp>
        <p:nvSpPr>
          <p:cNvPr id="24" name="Shape 22"/>
          <p:cNvSpPr/>
          <p:nvPr/>
        </p:nvSpPr>
        <p:spPr>
          <a:xfrm>
            <a:off x="9281160" y="2606040"/>
            <a:ext cx="502920" cy="50292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811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마무리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235440" y="37490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메시지에 인상 깊었던 내용을 한 줄 언급하기 — 다음 연결을 잇는 씨앗이 된다.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9장 · 유익한 우연을 설계하는 전략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저자 사례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공장장이 교수가 된 우연의 해부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39112"/>
            <a:ext cx="731520" cy="731520"/>
          </a:xfrm>
          <a:prstGeom prst="ellipse">
            <a:avLst/>
          </a:prstGeom>
          <a:solidFill>
            <a:srgbClr val="C07A1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212848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192024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씨앗 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167128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약한 연결에서 온 기회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25146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4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수년 전 외부 행사에서 짧게 만났던 인연이 연결의 통로가 됐다. 기업 내부에만 머물지 않고 외부에 나갔던 습관의 결과였다.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15468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3410712"/>
            <a:ext cx="731520" cy="731520"/>
          </a:xfrm>
          <a:prstGeom prst="ellipse">
            <a:avLst/>
          </a:prstGeom>
          <a:solidFill>
            <a:srgbClr val="C07A1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358444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828800" y="329184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씨앗 2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828800" y="3538728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직무 경험이 만든 넓이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828800" y="38862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4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연구개발→기술기획→경영기획→연구소장→공장장. 계획된 경로는 아니었지만, 기술과 경영을 모두 이해하는 사람을 만들어냈다.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452628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" y="4782312"/>
            <a:ext cx="731520" cy="731520"/>
          </a:xfrm>
          <a:prstGeom prst="ellipse">
            <a:avLst/>
          </a:prstGeom>
          <a:solidFill>
            <a:srgbClr val="C07A1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4956048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828800" y="466344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씨앗 3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828800" y="4910328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불확실성 앞에서의 위험감수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1828800" y="52578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4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제안을 받았을 때 준비된 교수가 아니었다. 그 불확실성 앞에서 받아들이는 선택을 했다.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유익한 우연은 준비된 사람에게 찾아온다. 단, 그 준비는 탐색적 행동의 축적이다.</a:t>
            </a:r>
            <a:endParaRPr lang="en-US" sz="135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9장 · 유익한 우연을 설계하는 전략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실천 과제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작은 것부터, 조금 더 나아가면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2768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971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것부터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383280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이번 주 안에 관심 있는 분야에서 일하는 사람 한 명을 찾아보기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평소 가지 않던 학교 행사나 세미나 하나를 캘린더에 넣어두기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C07A10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1031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96" y="227685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37960" y="2971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조금 더 나아가면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3383280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관심 분야의 사람에게 정보 탐색 인터뷰를 요청하는 메시지 초안 작성해보기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지금까지 예상치 못한 기회나 전환점을 만들어준 우연을 하나 떠올려보기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9장 · 유익한 우연을 설계하는 전략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3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9418320" y="502920"/>
            <a:ext cx="1737360" cy="1737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토론 &amp; 활동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토론 질문 &amp; 수업 활동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83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성찰 질문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21488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내 일상에서 새로운 우연이 들어올 통로가 얼마나 열려 있는가?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3520440"/>
            <a:ext cx="11064240" cy="2377440"/>
          </a:xfrm>
          <a:prstGeom prst="roundRect">
            <a:avLst>
              <a:gd name="adj" fmla="val 4615"/>
            </a:avLst>
          </a:prstGeom>
          <a:solidFill>
            <a:srgbClr val="C07A1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7490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374904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활동 · 정보 탐색 인터뷰 메시지 쓰기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25196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"안녕하세요, ○○ 선배님… 30분 정도 여쭤볼 수 있을까요?" 형식으로 관심 분야 선배에게 보낼 메시지를 짝과 함께 초안 써본다.</a:t>
            </a:r>
            <a:endParaRPr lang="en-US" sz="16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9장 · 유익한 우연을 설계하는 전략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핵심 정리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9장 요약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우연은 예약할 수 없지만, 우연이 찾아올 조건은 만들 수 있다.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8346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낯선 곳 가기·약한 연결 넓히기·호기심을 행동으로 마감하기가 3가지 핵심 루틴이다.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7033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탐색 인터뷰는 우연을 만드는 가장 강력한 도구다.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8686800" cy="1051560"/>
          </a:xfrm>
          <a:prstGeom prst="roundRect">
            <a:avLst>
              <a:gd name="adj" fmla="val 10435"/>
            </a:avLst>
          </a:prstGeom>
          <a:solidFill>
            <a:srgbClr val="C07A1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074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시간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3492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10장. AI 도구로 탐색의 범위를 넓혀라</a:t>
            </a:r>
            <a:endParaRPr lang="en-US" sz="17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0" y="5303520"/>
            <a:ext cx="457200" cy="4572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8640" y="6080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이승원 | LEE SEUNG WON · Career Transition Lab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강의자료 문의: lswon@hansung.ac.kr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Career Transition Lab by Lee Seung Won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우연이 만드는 진로 · 9장 유익한 우연을 설계하는 전략</dc:title>
  <dc:subject>우연이 만드는 진로 챕터별 강의자료</dc:subject>
  <dc:creator>이승원</dc:creator>
  <cp:lastModifiedBy>이승원</cp:lastModifiedBy>
  <cp:revision>1</cp:revision>
  <dcterms:created xsi:type="dcterms:W3CDTF">2026-09-22T07:29:37Z</dcterms:created>
  <dcterms:modified xsi:type="dcterms:W3CDTF">2026-09-22T07:29:37Z</dcterms:modified>
</cp:coreProperties>
</file>